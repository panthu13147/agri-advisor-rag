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6" r:id="rId16"/>
    <p:sldId id="266" r:id="rId17"/>
    <p:sldId id="267" r:id="rId18"/>
    <p:sldId id="268" r:id="rId19"/>
    <p:sldId id="269" r:id="rId20"/>
    <p:sldId id="270" r:id="rId21"/>
    <p:sldId id="271" r:id="rId22"/>
    <p:sldId id="272" r:id="rId23"/>
    <p:sldId id="273" r:id="rId24"/>
    <p:sldId id="274" r:id="rId25"/>
    <p:sldId id="275"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 name="Picture 18" descr="exact_somaiya_last_page_template_v7.png"/>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18288" y="1572768"/>
            <a:ext cx="11841480" cy="4873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2064" y="1609344"/>
            <a:ext cx="41148" cy="1298448"/>
          </a:xfrm>
          <a:prstGeom prst="rect">
            <a:avLst/>
          </a:prstGeom>
          <a:solidFill>
            <a:srgbClr val="C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63240" y="1737360"/>
            <a:ext cx="6126480" cy="347472"/>
          </a:xfrm>
          <a:prstGeom prst="rect">
            <a:avLst/>
          </a:prstGeom>
          <a:noFill/>
        </p:spPr>
        <p:txBody>
          <a:bodyPr wrap="square" lIns="9144" rIns="9144" tIns="4572" bIns="4572" anchor="ctr">
            <a:spAutoFit/>
          </a:bodyPr>
          <a:lstStyle/>
          <a:p>
            <a:pPr algn="ctr">
              <a:spcBef>
                <a:spcPts val="0"/>
              </a:spcBef>
              <a:spcAft>
                <a:spcPts val="0"/>
              </a:spcAft>
            </a:pPr>
            <a:r>
              <a:rPr sz="1900" b="1" i="0">
                <a:solidFill>
                  <a:srgbClr val="234178"/>
                </a:solidFill>
                <a:latin typeface="Arial"/>
              </a:rPr>
              <a:t>S.Y. Mini Project Presentation</a:t>
            </a:r>
          </a:p>
        </p:txBody>
      </p:sp>
      <p:sp>
        <p:nvSpPr>
          <p:cNvPr id="6" name="TextBox 5"/>
          <p:cNvSpPr txBox="1"/>
          <p:nvPr/>
        </p:nvSpPr>
        <p:spPr>
          <a:xfrm>
            <a:off x="685800" y="2103120"/>
            <a:ext cx="10835640" cy="1024128"/>
          </a:xfrm>
          <a:prstGeom prst="rect">
            <a:avLst/>
          </a:prstGeom>
          <a:noFill/>
        </p:spPr>
        <p:txBody>
          <a:bodyPr wrap="square" lIns="9144" rIns="9144" tIns="4572" bIns="4572" anchor="ctr">
            <a:spAutoFit/>
          </a:bodyPr>
          <a:lstStyle/>
          <a:p>
            <a:pPr algn="l">
              <a:spcBef>
                <a:spcPts val="0"/>
              </a:spcBef>
              <a:spcAft>
                <a:spcPts val="0"/>
              </a:spcAft>
            </a:pPr>
            <a:r>
              <a:rPr sz="2300" b="1" i="0">
                <a:solidFill>
                  <a:srgbClr val="CD0000"/>
                </a:solidFill>
                <a:latin typeface="Arial"/>
              </a:rPr>
              <a:t>AgriAdvisor: An El Niño-Aware RAG-based
Agricultural Advisory System</a:t>
            </a:r>
          </a:p>
        </p:txBody>
      </p:sp>
      <p:sp>
        <p:nvSpPr>
          <p:cNvPr id="7" name="TextBox 6"/>
          <p:cNvSpPr txBox="1"/>
          <p:nvPr/>
        </p:nvSpPr>
        <p:spPr>
          <a:xfrm>
            <a:off x="868680" y="3502152"/>
            <a:ext cx="4389120" cy="274320"/>
          </a:xfrm>
          <a:prstGeom prst="rect">
            <a:avLst/>
          </a:prstGeom>
          <a:noFill/>
        </p:spPr>
        <p:txBody>
          <a:bodyPr wrap="square" lIns="9144" rIns="9144" tIns="4572" bIns="4572" anchor="ctr">
            <a:spAutoFit/>
          </a:bodyPr>
          <a:lstStyle/>
          <a:p>
            <a:pPr algn="l">
              <a:spcBef>
                <a:spcPts val="0"/>
              </a:spcBef>
              <a:spcAft>
                <a:spcPts val="0"/>
              </a:spcAft>
            </a:pPr>
            <a:r>
              <a:rPr sz="1500" b="1" i="0">
                <a:solidFill>
                  <a:srgbClr val="1E1E1E"/>
                </a:solidFill>
                <a:latin typeface="Arial"/>
              </a:rPr>
              <a:t>PRESENTED BY — GROUP 9</a:t>
            </a:r>
          </a:p>
        </p:txBody>
      </p:sp>
      <p:sp>
        <p:nvSpPr>
          <p:cNvPr id="8" name="TextBox 7"/>
          <p:cNvSpPr txBox="1"/>
          <p:nvPr/>
        </p:nvSpPr>
        <p:spPr>
          <a:xfrm>
            <a:off x="868680" y="3867911"/>
            <a:ext cx="2743200" cy="320040"/>
          </a:xfrm>
          <a:prstGeom prst="rect">
            <a:avLst/>
          </a:prstGeom>
          <a:noFill/>
        </p:spPr>
        <p:txBody>
          <a:bodyPr wrap="square" lIns="9144" rIns="9144" tIns="4572" bIns="4572" anchor="ctr">
            <a:spAutoFit/>
          </a:bodyPr>
          <a:lstStyle/>
          <a:p>
            <a:pPr algn="l">
              <a:spcBef>
                <a:spcPts val="0"/>
              </a:spcBef>
              <a:spcAft>
                <a:spcPts val="0"/>
              </a:spcAft>
            </a:pPr>
            <a:r>
              <a:rPr sz="1500" b="1" i="0">
                <a:solidFill>
                  <a:srgbClr val="1E1E1E"/>
                </a:solidFill>
                <a:latin typeface="Arial"/>
              </a:rPr>
              <a:t>Panth Shah</a:t>
            </a:r>
          </a:p>
        </p:txBody>
      </p:sp>
      <p:sp>
        <p:nvSpPr>
          <p:cNvPr id="9" name="TextBox 8"/>
          <p:cNvSpPr txBox="1"/>
          <p:nvPr/>
        </p:nvSpPr>
        <p:spPr>
          <a:xfrm>
            <a:off x="2880360" y="3895344"/>
            <a:ext cx="1508760" cy="228600"/>
          </a:xfrm>
          <a:prstGeom prst="rect">
            <a:avLst/>
          </a:prstGeom>
          <a:noFill/>
        </p:spPr>
        <p:txBody>
          <a:bodyPr wrap="square" lIns="9144" rIns="9144" tIns="4572" bIns="4572" anchor="ctr">
            <a:spAutoFit/>
          </a:bodyPr>
          <a:lstStyle/>
          <a:p>
            <a:pPr algn="l">
              <a:spcBef>
                <a:spcPts val="0"/>
              </a:spcBef>
              <a:spcAft>
                <a:spcPts val="0"/>
              </a:spcAft>
            </a:pPr>
            <a:r>
              <a:rPr sz="1300" b="0" i="0">
                <a:solidFill>
                  <a:srgbClr val="1E1E1E"/>
                </a:solidFill>
                <a:latin typeface="Arial"/>
              </a:rPr>
              <a:t>(Roll No: 31)</a:t>
            </a:r>
          </a:p>
        </p:txBody>
      </p:sp>
      <p:sp>
        <p:nvSpPr>
          <p:cNvPr id="10" name="TextBox 9"/>
          <p:cNvSpPr txBox="1"/>
          <p:nvPr/>
        </p:nvSpPr>
        <p:spPr>
          <a:xfrm>
            <a:off x="868680" y="4270248"/>
            <a:ext cx="2743200" cy="320040"/>
          </a:xfrm>
          <a:prstGeom prst="rect">
            <a:avLst/>
          </a:prstGeom>
          <a:noFill/>
        </p:spPr>
        <p:txBody>
          <a:bodyPr wrap="square" lIns="9144" rIns="9144" tIns="4572" bIns="4572" anchor="ctr">
            <a:spAutoFit/>
          </a:bodyPr>
          <a:lstStyle/>
          <a:p>
            <a:pPr algn="l">
              <a:spcBef>
                <a:spcPts val="0"/>
              </a:spcBef>
              <a:spcAft>
                <a:spcPts val="0"/>
              </a:spcAft>
            </a:pPr>
            <a:r>
              <a:rPr sz="1500" b="1" i="0">
                <a:solidFill>
                  <a:srgbClr val="1E1E1E"/>
                </a:solidFill>
                <a:latin typeface="Arial"/>
              </a:rPr>
              <a:t>Vedant Shinde</a:t>
            </a:r>
          </a:p>
        </p:txBody>
      </p:sp>
      <p:sp>
        <p:nvSpPr>
          <p:cNvPr id="11" name="TextBox 10"/>
          <p:cNvSpPr txBox="1"/>
          <p:nvPr/>
        </p:nvSpPr>
        <p:spPr>
          <a:xfrm>
            <a:off x="2880360" y="4297679"/>
            <a:ext cx="1508760" cy="228600"/>
          </a:xfrm>
          <a:prstGeom prst="rect">
            <a:avLst/>
          </a:prstGeom>
          <a:noFill/>
        </p:spPr>
        <p:txBody>
          <a:bodyPr wrap="square" lIns="9144" rIns="9144" tIns="4572" bIns="4572" anchor="ctr">
            <a:spAutoFit/>
          </a:bodyPr>
          <a:lstStyle/>
          <a:p>
            <a:pPr algn="l">
              <a:spcBef>
                <a:spcPts val="0"/>
              </a:spcBef>
              <a:spcAft>
                <a:spcPts val="0"/>
              </a:spcAft>
            </a:pPr>
            <a:r>
              <a:rPr sz="1300" b="0" i="0">
                <a:solidFill>
                  <a:srgbClr val="1E1E1E"/>
                </a:solidFill>
                <a:latin typeface="Arial"/>
              </a:rPr>
              <a:t>(Roll No: 35)</a:t>
            </a:r>
          </a:p>
        </p:txBody>
      </p:sp>
      <p:sp>
        <p:nvSpPr>
          <p:cNvPr id="12" name="TextBox 11"/>
          <p:cNvSpPr txBox="1"/>
          <p:nvPr/>
        </p:nvSpPr>
        <p:spPr>
          <a:xfrm>
            <a:off x="868680" y="4672584"/>
            <a:ext cx="2743200" cy="320040"/>
          </a:xfrm>
          <a:prstGeom prst="rect">
            <a:avLst/>
          </a:prstGeom>
          <a:noFill/>
        </p:spPr>
        <p:txBody>
          <a:bodyPr wrap="square" lIns="9144" rIns="9144" tIns="4572" bIns="4572" anchor="ctr">
            <a:spAutoFit/>
          </a:bodyPr>
          <a:lstStyle/>
          <a:p>
            <a:pPr algn="l">
              <a:spcBef>
                <a:spcPts val="0"/>
              </a:spcBef>
              <a:spcAft>
                <a:spcPts val="0"/>
              </a:spcAft>
            </a:pPr>
            <a:r>
              <a:rPr sz="1500" b="1" i="0">
                <a:solidFill>
                  <a:srgbClr val="1E1E1E"/>
                </a:solidFill>
                <a:latin typeface="Arial"/>
              </a:rPr>
              <a:t>Hamood Siddiqui</a:t>
            </a:r>
          </a:p>
        </p:txBody>
      </p:sp>
      <p:sp>
        <p:nvSpPr>
          <p:cNvPr id="13" name="TextBox 12"/>
          <p:cNvSpPr txBox="1"/>
          <p:nvPr/>
        </p:nvSpPr>
        <p:spPr>
          <a:xfrm>
            <a:off x="2880360" y="4700016"/>
            <a:ext cx="1508760" cy="228600"/>
          </a:xfrm>
          <a:prstGeom prst="rect">
            <a:avLst/>
          </a:prstGeom>
          <a:noFill/>
        </p:spPr>
        <p:txBody>
          <a:bodyPr wrap="square" lIns="9144" rIns="9144" tIns="4572" bIns="4572" anchor="ctr">
            <a:spAutoFit/>
          </a:bodyPr>
          <a:lstStyle/>
          <a:p>
            <a:pPr algn="l">
              <a:spcBef>
                <a:spcPts val="0"/>
              </a:spcBef>
              <a:spcAft>
                <a:spcPts val="0"/>
              </a:spcAft>
            </a:pPr>
            <a:r>
              <a:rPr sz="1300" b="0" i="0">
                <a:solidFill>
                  <a:srgbClr val="1E1E1E"/>
                </a:solidFill>
                <a:latin typeface="Arial"/>
              </a:rPr>
              <a:t>(Roll No: 36)</a:t>
            </a:r>
          </a:p>
        </p:txBody>
      </p:sp>
      <p:sp>
        <p:nvSpPr>
          <p:cNvPr id="14" name="TextBox 13"/>
          <p:cNvSpPr txBox="1"/>
          <p:nvPr/>
        </p:nvSpPr>
        <p:spPr>
          <a:xfrm>
            <a:off x="6720840" y="3346704"/>
            <a:ext cx="3840480" cy="274320"/>
          </a:xfrm>
          <a:prstGeom prst="rect">
            <a:avLst/>
          </a:prstGeom>
          <a:noFill/>
        </p:spPr>
        <p:txBody>
          <a:bodyPr wrap="square" lIns="9144" rIns="9144" tIns="4572" bIns="4572" anchor="ctr">
            <a:spAutoFit/>
          </a:bodyPr>
          <a:lstStyle/>
          <a:p>
            <a:pPr algn="l"/>
            <a:r>
              <a:rPr sz="1300" b="1" i="0">
                <a:solidFill>
                  <a:srgbClr val="244279"/>
                </a:solidFill>
                <a:latin typeface="Arial"/>
              </a:rPr>
              <a:t>PROJECT GUIDE</a:t>
            </a:r>
          </a:p>
        </p:txBody>
      </p:sp>
      <p:sp>
        <p:nvSpPr>
          <p:cNvPr id="15" name="TextBox 14"/>
          <p:cNvSpPr txBox="1"/>
          <p:nvPr/>
        </p:nvSpPr>
        <p:spPr>
          <a:xfrm>
            <a:off x="6720840" y="3657600"/>
            <a:ext cx="1097280" cy="219456"/>
          </a:xfrm>
          <a:prstGeom prst="rect">
            <a:avLst/>
          </a:prstGeom>
          <a:noFill/>
        </p:spPr>
        <p:txBody>
          <a:bodyPr wrap="square" lIns="9144" rIns="9144" tIns="4572" bIns="4572" anchor="ctr">
            <a:spAutoFit/>
          </a:bodyPr>
          <a:lstStyle/>
          <a:p>
            <a:pPr algn="l"/>
            <a:r>
              <a:rPr sz="1000" b="0" i="0">
                <a:solidFill>
                  <a:srgbClr val="696969"/>
                </a:solidFill>
                <a:latin typeface="Arial"/>
              </a:rPr>
              <a:t>Guided by</a:t>
            </a:r>
          </a:p>
        </p:txBody>
      </p:sp>
      <p:sp>
        <p:nvSpPr>
          <p:cNvPr id="16" name="TextBox 15"/>
          <p:cNvSpPr txBox="1"/>
          <p:nvPr/>
        </p:nvSpPr>
        <p:spPr>
          <a:xfrm>
            <a:off x="6720840" y="3931919"/>
            <a:ext cx="4572000" cy="438912"/>
          </a:xfrm>
          <a:prstGeom prst="rect">
            <a:avLst/>
          </a:prstGeom>
          <a:noFill/>
        </p:spPr>
        <p:txBody>
          <a:bodyPr wrap="square" lIns="9144" rIns="9144" tIns="4572" bIns="4572" anchor="ctr">
            <a:spAutoFit/>
          </a:bodyPr>
          <a:lstStyle/>
          <a:p>
            <a:pPr algn="l"/>
            <a:r>
              <a:rPr sz="2000" b="1" i="0">
                <a:solidFill>
                  <a:srgbClr val="262626"/>
                </a:solidFill>
                <a:latin typeface="Arial"/>
              </a:rPr>
              <a:t>Prof. Bhagyashree Ingle</a:t>
            </a:r>
          </a:p>
        </p:txBody>
      </p:sp>
      <p:sp>
        <p:nvSpPr>
          <p:cNvPr id="17" name="TextBox 16"/>
          <p:cNvSpPr txBox="1"/>
          <p:nvPr/>
        </p:nvSpPr>
        <p:spPr>
          <a:xfrm>
            <a:off x="868680" y="5376672"/>
            <a:ext cx="3657600" cy="292608"/>
          </a:xfrm>
          <a:prstGeom prst="rect">
            <a:avLst/>
          </a:prstGeom>
          <a:noFill/>
        </p:spPr>
        <p:txBody>
          <a:bodyPr wrap="square" lIns="9144" rIns="9144" tIns="4572" bIns="4572" anchor="ctr">
            <a:spAutoFit/>
          </a:bodyPr>
          <a:lstStyle/>
          <a:p>
            <a:pPr algn="l"/>
            <a:r>
              <a:rPr sz="1400" b="1" i="0">
                <a:solidFill>
                  <a:srgbClr val="244279"/>
                </a:solidFill>
                <a:latin typeface="Arial"/>
              </a:rPr>
              <a:t>Department of AI &amp; DS</a:t>
            </a:r>
          </a:p>
        </p:txBody>
      </p:sp>
      <p:sp>
        <p:nvSpPr>
          <p:cNvPr id="18" name="TextBox 17"/>
          <p:cNvSpPr txBox="1"/>
          <p:nvPr/>
        </p:nvSpPr>
        <p:spPr>
          <a:xfrm>
            <a:off x="868680" y="5715000"/>
            <a:ext cx="5212080" cy="256032"/>
          </a:xfrm>
          <a:prstGeom prst="rect">
            <a:avLst/>
          </a:prstGeom>
          <a:noFill/>
        </p:spPr>
        <p:txBody>
          <a:bodyPr wrap="square" lIns="9144" rIns="9144" tIns="4572" bIns="4572" anchor="ctr">
            <a:spAutoFit/>
          </a:bodyPr>
          <a:lstStyle/>
          <a:p>
            <a:pPr algn="l"/>
            <a:r>
              <a:rPr sz="1100" b="0" i="0">
                <a:solidFill>
                  <a:srgbClr val="696969"/>
                </a:solidFill>
                <a:latin typeface="Arial"/>
              </a:rPr>
              <a:t>K.J. Somaiya Institute of Technology, Sion, Mumbai</a:t>
            </a:r>
          </a:p>
        </p:txBody>
      </p:sp>
      <p:sp>
        <p:nvSpPr>
          <p:cNvPr id="20" name="Rectangle 19"/>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1572768"/>
            <a:ext cx="11740896" cy="4873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920240" y="1874519"/>
          <a:ext cx="7818120" cy="3657599"/>
        </p:xfrm>
        <a:graphic>
          <a:graphicData uri="http://schemas.openxmlformats.org/drawingml/2006/table">
            <a:tbl>
              <a:tblPr firstRow="1" bandRow="1">
                <a:tableStyleId>{5C22544A-7EE6-4342-B048-85BDC9FD1C3A}</a:tableStyleId>
              </a:tblPr>
              <a:tblGrid>
                <a:gridCol w="1143000"/>
                <a:gridCol w="6675120"/>
              </a:tblGrid>
              <a:tr h="332509">
                <a:tc>
                  <a:txBody>
                    <a:bodyPr/>
                    <a:lstStyle/>
                    <a:p>
                      <a:pPr algn="ctr"/>
                      <a:r>
                        <a:rPr sz="1150" b="1">
                          <a:solidFill>
                            <a:srgbClr val="FFFFFF"/>
                          </a:solidFill>
                          <a:latin typeface="Arial"/>
                        </a:rPr>
                        <a:t>Sr. No.</a:t>
                      </a:r>
                    </a:p>
                  </a:txBody>
                  <a:tcPr marL="73152" marR="73152" marT="13716" marB="13716" anchor="ctr">
                    <a:solidFill>
                      <a:srgbClr val="C60000"/>
                    </a:solidFill>
                  </a:tcPr>
                </a:tc>
                <a:tc>
                  <a:txBody>
                    <a:bodyPr/>
                    <a:lstStyle/>
                    <a:p>
                      <a:pPr algn="l"/>
                      <a:r>
                        <a:rPr sz="1150" b="1">
                          <a:solidFill>
                            <a:srgbClr val="FFFFFF"/>
                          </a:solidFill>
                          <a:latin typeface="Arial"/>
                        </a:rPr>
                        <a:t>Content</a:t>
                      </a:r>
                    </a:p>
                  </a:txBody>
                  <a:tcPr marL="73152" marR="73152" marT="13716" marB="13716" anchor="ctr">
                    <a:solidFill>
                      <a:srgbClr val="C60000"/>
                    </a:solidFill>
                  </a:tcPr>
                </a:tc>
              </a:tr>
              <a:tr h="332509">
                <a:tc>
                  <a:txBody>
                    <a:bodyPr/>
                    <a:lstStyle/>
                    <a:p>
                      <a:pPr algn="ctr"/>
                      <a:r>
                        <a:rPr sz="1100" b="1">
                          <a:solidFill>
                            <a:srgbClr val="C60000"/>
                          </a:solidFill>
                          <a:latin typeface="Arial"/>
                        </a:rPr>
                        <a:t>1</a:t>
                      </a:r>
                    </a:p>
                  </a:txBody>
                  <a:tcPr marL="73152" marR="73152" marT="13716" marB="13716" anchor="ctr">
                    <a:solidFill>
                      <a:srgbClr val="FFFFFF"/>
                    </a:solidFill>
                  </a:tcPr>
                </a:tc>
                <a:tc>
                  <a:txBody>
                    <a:bodyPr/>
                    <a:lstStyle/>
                    <a:p>
                      <a:pPr algn="l"/>
                      <a:r>
                        <a:rPr sz="1080" b="0">
                          <a:solidFill>
                            <a:srgbClr val="262626"/>
                          </a:solidFill>
                          <a:latin typeface="Arial"/>
                        </a:rPr>
                        <a:t>Introduction</a:t>
                      </a:r>
                    </a:p>
                  </a:txBody>
                  <a:tcPr marL="73152" marR="73152" marT="13716" marB="13716" anchor="ctr">
                    <a:solidFill>
                      <a:srgbClr val="FFFFFF"/>
                    </a:solidFill>
                  </a:tcPr>
                </a:tc>
              </a:tr>
              <a:tr h="332509">
                <a:tc>
                  <a:txBody>
                    <a:bodyPr/>
                    <a:lstStyle/>
                    <a:p>
                      <a:pPr algn="ctr"/>
                      <a:r>
                        <a:rPr sz="1100" b="1">
                          <a:solidFill>
                            <a:srgbClr val="C60000"/>
                          </a:solidFill>
                          <a:latin typeface="Arial"/>
                        </a:rPr>
                        <a:t>2</a:t>
                      </a:r>
                    </a:p>
                  </a:txBody>
                  <a:tcPr marL="73152" marR="73152" marT="13716" marB="13716" anchor="ctr">
                    <a:solidFill>
                      <a:srgbClr val="FFFFFF"/>
                    </a:solidFill>
                  </a:tcPr>
                </a:tc>
                <a:tc>
                  <a:txBody>
                    <a:bodyPr/>
                    <a:lstStyle/>
                    <a:p>
                      <a:pPr algn="l"/>
                      <a:r>
                        <a:rPr sz="1080" b="0">
                          <a:solidFill>
                            <a:srgbClr val="262626"/>
                          </a:solidFill>
                          <a:latin typeface="Arial"/>
                        </a:rPr>
                        <a:t>Literature Survey</a:t>
                      </a:r>
                    </a:p>
                  </a:txBody>
                  <a:tcPr marL="73152" marR="73152" marT="13716" marB="13716" anchor="ctr">
                    <a:solidFill>
                      <a:srgbClr val="FFFFFF"/>
                    </a:solidFill>
                  </a:tcPr>
                </a:tc>
              </a:tr>
              <a:tr h="332509">
                <a:tc>
                  <a:txBody>
                    <a:bodyPr/>
                    <a:lstStyle/>
                    <a:p>
                      <a:pPr algn="ctr"/>
                      <a:r>
                        <a:rPr sz="1100" b="1">
                          <a:solidFill>
                            <a:srgbClr val="C60000"/>
                          </a:solidFill>
                          <a:latin typeface="Arial"/>
                        </a:rPr>
                        <a:t>3</a:t>
                      </a:r>
                    </a:p>
                  </a:txBody>
                  <a:tcPr marL="73152" marR="73152" marT="13716" marB="13716" anchor="ctr">
                    <a:solidFill>
                      <a:srgbClr val="FFFFFF"/>
                    </a:solidFill>
                  </a:tcPr>
                </a:tc>
                <a:tc>
                  <a:txBody>
                    <a:bodyPr/>
                    <a:lstStyle/>
                    <a:p>
                      <a:pPr algn="l"/>
                      <a:r>
                        <a:rPr sz="1080" b="0">
                          <a:solidFill>
                            <a:srgbClr val="262626"/>
                          </a:solidFill>
                          <a:latin typeface="Arial"/>
                        </a:rPr>
                        <a:t>Objectives</a:t>
                      </a:r>
                    </a:p>
                  </a:txBody>
                  <a:tcPr marL="73152" marR="73152" marT="13716" marB="13716" anchor="ctr">
                    <a:solidFill>
                      <a:srgbClr val="FFFFFF"/>
                    </a:solidFill>
                  </a:tcPr>
                </a:tc>
              </a:tr>
              <a:tr h="332509">
                <a:tc>
                  <a:txBody>
                    <a:bodyPr/>
                    <a:lstStyle/>
                    <a:p>
                      <a:pPr algn="ctr"/>
                      <a:r>
                        <a:rPr sz="1100" b="1">
                          <a:solidFill>
                            <a:srgbClr val="C60000"/>
                          </a:solidFill>
                          <a:latin typeface="Arial"/>
                        </a:rPr>
                        <a:t>4</a:t>
                      </a:r>
                    </a:p>
                  </a:txBody>
                  <a:tcPr marL="73152" marR="73152" marT="13716" marB="13716" anchor="ctr">
                    <a:solidFill>
                      <a:srgbClr val="FFFFFF"/>
                    </a:solidFill>
                  </a:tcPr>
                </a:tc>
                <a:tc>
                  <a:txBody>
                    <a:bodyPr/>
                    <a:lstStyle/>
                    <a:p>
                      <a:pPr algn="l"/>
                      <a:r>
                        <a:rPr sz="1080" b="0">
                          <a:solidFill>
                            <a:srgbClr val="262626"/>
                          </a:solidFill>
                          <a:latin typeface="Arial"/>
                        </a:rPr>
                        <a:t>Proposed Methodology &amp; System Architecture</a:t>
                      </a:r>
                    </a:p>
                  </a:txBody>
                  <a:tcPr marL="73152" marR="73152" marT="13716" marB="13716" anchor="ctr">
                    <a:solidFill>
                      <a:srgbClr val="FFFFFF"/>
                    </a:solidFill>
                  </a:tcPr>
                </a:tc>
              </a:tr>
              <a:tr h="332509">
                <a:tc>
                  <a:txBody>
                    <a:bodyPr/>
                    <a:lstStyle/>
                    <a:p>
                      <a:pPr algn="ctr"/>
                      <a:r>
                        <a:rPr sz="1100" b="1">
                          <a:solidFill>
                            <a:srgbClr val="C60000"/>
                          </a:solidFill>
                          <a:latin typeface="Arial"/>
                        </a:rPr>
                        <a:t>5</a:t>
                      </a:r>
                    </a:p>
                  </a:txBody>
                  <a:tcPr marL="73152" marR="73152" marT="13716" marB="13716" anchor="ctr">
                    <a:solidFill>
                      <a:srgbClr val="FFFFFF"/>
                    </a:solidFill>
                  </a:tcPr>
                </a:tc>
                <a:tc>
                  <a:txBody>
                    <a:bodyPr/>
                    <a:lstStyle/>
                    <a:p>
                      <a:pPr algn="l"/>
                      <a:r>
                        <a:rPr sz="1080" b="0">
                          <a:solidFill>
                            <a:srgbClr val="262626"/>
                          </a:solidFill>
                          <a:latin typeface="Arial"/>
                        </a:rPr>
                        <a:t>Tools, Technologies &amp; Resources</a:t>
                      </a:r>
                    </a:p>
                  </a:txBody>
                  <a:tcPr marL="73152" marR="73152" marT="13716" marB="13716" anchor="ctr">
                    <a:solidFill>
                      <a:srgbClr val="FFFFFF"/>
                    </a:solidFill>
                  </a:tcPr>
                </a:tc>
              </a:tr>
              <a:tr h="332509">
                <a:tc>
                  <a:txBody>
                    <a:bodyPr/>
                    <a:lstStyle/>
                    <a:p>
                      <a:pPr algn="ctr"/>
                      <a:r>
                        <a:rPr sz="1100" b="1">
                          <a:solidFill>
                            <a:srgbClr val="C60000"/>
                          </a:solidFill>
                          <a:latin typeface="Arial"/>
                        </a:rPr>
                        <a:t>6</a:t>
                      </a:r>
                    </a:p>
                  </a:txBody>
                  <a:tcPr marL="73152" marR="73152" marT="13716" marB="13716" anchor="ctr">
                    <a:solidFill>
                      <a:srgbClr val="FFFFFF"/>
                    </a:solidFill>
                  </a:tcPr>
                </a:tc>
                <a:tc>
                  <a:txBody>
                    <a:bodyPr/>
                    <a:lstStyle/>
                    <a:p>
                      <a:pPr algn="l"/>
                      <a:r>
                        <a:rPr sz="1080" b="0">
                          <a:solidFill>
                            <a:srgbClr val="262626"/>
                          </a:solidFill>
                          <a:latin typeface="Arial"/>
                        </a:rPr>
                        <a:t>Work Completed So Far</a:t>
                      </a:r>
                    </a:p>
                  </a:txBody>
                  <a:tcPr marL="73152" marR="73152" marT="13716" marB="13716" anchor="ctr">
                    <a:solidFill>
                      <a:srgbClr val="FFFFFF"/>
                    </a:solidFill>
                  </a:tcPr>
                </a:tc>
              </a:tr>
              <a:tr h="332509">
                <a:tc>
                  <a:txBody>
                    <a:bodyPr/>
                    <a:lstStyle/>
                    <a:p>
                      <a:pPr algn="ctr"/>
                      <a:r>
                        <a:rPr sz="1100" b="1">
                          <a:solidFill>
                            <a:srgbClr val="C60000"/>
                          </a:solidFill>
                          <a:latin typeface="Arial"/>
                        </a:rPr>
                        <a:t>7</a:t>
                      </a:r>
                    </a:p>
                  </a:txBody>
                  <a:tcPr marL="73152" marR="73152" marT="13716" marB="13716" anchor="ctr">
                    <a:solidFill>
                      <a:srgbClr val="FFFFFF"/>
                    </a:solidFill>
                  </a:tcPr>
                </a:tc>
                <a:tc>
                  <a:txBody>
                    <a:bodyPr/>
                    <a:lstStyle/>
                    <a:p>
                      <a:pPr algn="l"/>
                      <a:r>
                        <a:rPr sz="1080" b="0">
                          <a:solidFill>
                            <a:srgbClr val="262626"/>
                          </a:solidFill>
                          <a:latin typeface="Arial"/>
                        </a:rPr>
                        <a:t>Final / Expected Outcomes</a:t>
                      </a:r>
                    </a:p>
                  </a:txBody>
                  <a:tcPr marL="73152" marR="73152" marT="13716" marB="13716" anchor="ctr">
                    <a:solidFill>
                      <a:srgbClr val="FFFFFF"/>
                    </a:solidFill>
                  </a:tcPr>
                </a:tc>
              </a:tr>
              <a:tr h="332509">
                <a:tc>
                  <a:txBody>
                    <a:bodyPr/>
                    <a:lstStyle/>
                    <a:p>
                      <a:pPr algn="ctr"/>
                      <a:r>
                        <a:rPr sz="1100" b="1">
                          <a:solidFill>
                            <a:srgbClr val="C60000"/>
                          </a:solidFill>
                          <a:latin typeface="Arial"/>
                        </a:rPr>
                        <a:t>8</a:t>
                      </a:r>
                    </a:p>
                  </a:txBody>
                  <a:tcPr marL="73152" marR="73152" marT="13716" marB="13716" anchor="ctr">
                    <a:solidFill>
                      <a:srgbClr val="FFFFFF"/>
                    </a:solidFill>
                  </a:tcPr>
                </a:tc>
                <a:tc>
                  <a:txBody>
                    <a:bodyPr/>
                    <a:lstStyle/>
                    <a:p>
                      <a:pPr algn="l"/>
                      <a:r>
                        <a:rPr sz="1080" b="0">
                          <a:solidFill>
                            <a:srgbClr val="262626"/>
                          </a:solidFill>
                          <a:latin typeface="Arial"/>
                        </a:rPr>
                        <a:t>Applications &amp; Future Scope</a:t>
                      </a:r>
                    </a:p>
                  </a:txBody>
                  <a:tcPr marL="73152" marR="73152" marT="13716" marB="13716" anchor="ctr">
                    <a:solidFill>
                      <a:srgbClr val="FFFFFF"/>
                    </a:solidFill>
                  </a:tcPr>
                </a:tc>
              </a:tr>
              <a:tr h="332509">
                <a:tc>
                  <a:txBody>
                    <a:bodyPr/>
                    <a:lstStyle/>
                    <a:p>
                      <a:pPr algn="ctr"/>
                      <a:r>
                        <a:rPr sz="1100" b="1">
                          <a:solidFill>
                            <a:srgbClr val="C60000"/>
                          </a:solidFill>
                          <a:latin typeface="Arial"/>
                        </a:rPr>
                        <a:t>9</a:t>
                      </a:r>
                    </a:p>
                  </a:txBody>
                  <a:tcPr marL="73152" marR="73152" marT="13716" marB="13716" anchor="ctr">
                    <a:solidFill>
                      <a:srgbClr val="FFFFFF"/>
                    </a:solidFill>
                  </a:tcPr>
                </a:tc>
                <a:tc>
                  <a:txBody>
                    <a:bodyPr/>
                    <a:lstStyle/>
                    <a:p>
                      <a:pPr algn="l"/>
                      <a:r>
                        <a:rPr sz="1080" b="0">
                          <a:solidFill>
                            <a:srgbClr val="262626"/>
                          </a:solidFill>
                          <a:latin typeface="Arial"/>
                        </a:rPr>
                        <a:t>Timeline</a:t>
                      </a:r>
                    </a:p>
                  </a:txBody>
                  <a:tcPr marL="73152" marR="73152" marT="13716" marB="13716" anchor="ctr">
                    <a:solidFill>
                      <a:srgbClr val="FFFFFF"/>
                    </a:solidFill>
                  </a:tcPr>
                </a:tc>
              </a:tr>
              <a:tr h="332509">
                <a:tc>
                  <a:txBody>
                    <a:bodyPr/>
                    <a:lstStyle/>
                    <a:p>
                      <a:pPr algn="ctr"/>
                      <a:r>
                        <a:rPr sz="1100" b="1">
                          <a:solidFill>
                            <a:srgbClr val="C60000"/>
                          </a:solidFill>
                          <a:latin typeface="Arial"/>
                        </a:rPr>
                        <a:t>10</a:t>
                      </a:r>
                    </a:p>
                  </a:txBody>
                  <a:tcPr marL="73152" marR="73152" marT="13716" marB="13716" anchor="ctr">
                    <a:solidFill>
                      <a:srgbClr val="FFFFFF"/>
                    </a:solidFill>
                  </a:tcPr>
                </a:tc>
                <a:tc>
                  <a:txBody>
                    <a:bodyPr/>
                    <a:lstStyle/>
                    <a:p>
                      <a:pPr algn="l"/>
                      <a:r>
                        <a:rPr sz="1080" b="0">
                          <a:solidFill>
                            <a:srgbClr val="262626"/>
                          </a:solidFill>
                          <a:latin typeface="Arial"/>
                        </a:rPr>
                        <a:t>References</a:t>
                      </a:r>
                    </a:p>
                  </a:txBody>
                  <a:tcPr marL="73152" marR="73152" marT="13716" marB="13716" anchor="ctr">
                    <a:solidFill>
                      <a:srgbClr val="FFFFFF"/>
                    </a:solidFill>
                  </a:tcPr>
                </a:tc>
              </a:tr>
            </a:tbl>
          </a:graphicData>
        </a:graphic>
      </p:graphicFrame>
      <p:cxnSp>
        <p:nvCxnSpPr>
          <p:cNvPr id="5" name="Connector 4"/>
          <p:cNvCxnSpPr/>
          <p:nvPr/>
        </p:nvCxnSpPr>
        <p:spPr>
          <a:xfrm>
            <a:off x="1920240" y="1874519"/>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20240" y="2207029"/>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920240" y="2539538"/>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20240" y="2872047"/>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20240" y="3204556"/>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920240" y="3537065"/>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20240" y="3869574"/>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20240" y="4202083"/>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920240" y="4534592"/>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20240" y="4867101"/>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20240" y="5199610"/>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920240" y="5532120"/>
            <a:ext cx="7818120" cy="0"/>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920240" y="1874519"/>
            <a:ext cx="0" cy="3657601"/>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63240" y="1874519"/>
            <a:ext cx="0" cy="3657601"/>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38360" y="1874519"/>
            <a:ext cx="0" cy="3657601"/>
          </a:xfrm>
          <a:prstGeom prst="line">
            <a:avLst/>
          </a:prstGeom>
          <a:ln w="7620">
            <a:solidFill>
              <a:srgbClr val="D7D7D7"/>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Picture 16" descr="exact_somaiya_last_page_template_v7.png"/>
          <p:cNvPicPr>
            <a:picLocks noChangeAspect="1"/>
          </p:cNvPicPr>
          <p:nvPr/>
        </p:nvPicPr>
        <p:blipFill>
          <a:blip r:embed="rId5"/>
          <a:stretch>
            <a:fillRect/>
          </a:stretch>
        </p:blipFill>
        <p:spPr>
          <a:xfrm>
            <a:off x="0" y="0"/>
            <a:ext cx="12191999" cy="6858000"/>
          </a:xfrm>
          <a:prstGeom prst="rect">
            <a:avLst/>
          </a:prstGeom>
        </p:spPr>
      </p:pic>
      <p:sp>
        <p:nvSpPr>
          <p:cNvPr id="4" name="TextBox 3"/>
          <p:cNvSpPr txBox="1"/>
          <p:nvPr/>
        </p:nvSpPr>
        <p:spPr>
          <a:xfrm>
            <a:off x="411480" y="1536192"/>
            <a:ext cx="11109960" cy="347472"/>
          </a:xfrm>
          <a:prstGeom prst="rect">
            <a:avLst/>
          </a:prstGeom>
          <a:noFill/>
        </p:spPr>
        <p:txBody>
          <a:bodyPr wrap="square" lIns="27432" rIns="27432" tIns="18288" bIns="18288" anchor="t">
            <a:spAutoFit/>
          </a:bodyPr>
          <a:lstStyle/>
          <a:p>
            <a:pPr algn="ctr">
              <a:spcBef>
                <a:spcPts val="0"/>
              </a:spcBef>
              <a:spcAft>
                <a:spcPts val="0"/>
              </a:spcAft>
            </a:pPr>
            <a:r>
              <a:rPr sz="2300" b="1" i="0">
                <a:solidFill>
                  <a:srgbClr val="234178"/>
                </a:solidFill>
                <a:latin typeface="Arial"/>
              </a:rPr>
              <a:t>INTRODUCTION</a:t>
            </a:r>
          </a:p>
        </p:txBody>
      </p:sp>
      <p:sp>
        <p:nvSpPr>
          <p:cNvPr id="5" name="TextBox 4"/>
          <p:cNvSpPr txBox="1"/>
          <p:nvPr/>
        </p:nvSpPr>
        <p:spPr>
          <a:xfrm>
            <a:off x="502920" y="1993392"/>
            <a:ext cx="2194560" cy="274320"/>
          </a:xfrm>
          <a:prstGeom prst="rect">
            <a:avLst/>
          </a:prstGeom>
          <a:noFill/>
        </p:spPr>
        <p:txBody>
          <a:bodyPr wrap="square" lIns="27432" rIns="27432" tIns="18288" bIns="18288" anchor="t">
            <a:spAutoFit/>
          </a:bodyPr>
          <a:lstStyle/>
          <a:p>
            <a:pPr algn="l">
              <a:spcBef>
                <a:spcPts val="0"/>
              </a:spcBef>
              <a:spcAft>
                <a:spcPts val="0"/>
              </a:spcAft>
            </a:pPr>
            <a:r>
              <a:rPr sz="1600" b="1" i="0">
                <a:solidFill>
                  <a:srgbClr val="1E1E1E"/>
                </a:solidFill>
                <a:latin typeface="Arial"/>
              </a:rPr>
              <a:t>Background</a:t>
            </a:r>
          </a:p>
        </p:txBody>
      </p:sp>
      <p:sp>
        <p:nvSpPr>
          <p:cNvPr id="6" name="TextBox 5"/>
          <p:cNvSpPr txBox="1"/>
          <p:nvPr/>
        </p:nvSpPr>
        <p:spPr>
          <a:xfrm>
            <a:off x="566928" y="2286000"/>
            <a:ext cx="5623560" cy="1143000"/>
          </a:xfrm>
          <a:prstGeom prst="rect">
            <a:avLst/>
          </a:prstGeom>
          <a:noFill/>
        </p:spPr>
        <p:txBody>
          <a:bodyPr wrap="square" lIns="27432" rIns="27432" tIns="18288" bIns="18288" anchor="t">
            <a:spAutoFit/>
          </a:bodyPr>
          <a:lstStyle/>
          <a:p>
            <a:pPr algn="l">
              <a:spcBef>
                <a:spcPts val="0"/>
              </a:spcBef>
              <a:spcAft>
                <a:spcPts val="0"/>
              </a:spcAft>
            </a:pPr>
            <a:r>
              <a:rPr sz="1550" b="0" i="0">
                <a:solidFill>
                  <a:srgbClr val="1E1E1E"/>
                </a:solidFill>
                <a:latin typeface="Arial"/>
              </a:rPr>
              <a:t>• Domain: Applied AI for climate-resilient agriculture.
• El Niño can disrupt the Indian monsoon, causing rainfall deficits and crop stress across rainfed Maharashtra.
• AgriAdvisor combines verified government guidance with AI retrieval to produce localized, explainable advisories.</a:t>
            </a:r>
          </a:p>
        </p:txBody>
      </p:sp>
      <p:sp>
        <p:nvSpPr>
          <p:cNvPr id="7" name="TextBox 6"/>
          <p:cNvSpPr txBox="1"/>
          <p:nvPr/>
        </p:nvSpPr>
        <p:spPr>
          <a:xfrm>
            <a:off x="502920" y="3657600"/>
            <a:ext cx="2926080" cy="274320"/>
          </a:xfrm>
          <a:prstGeom prst="rect">
            <a:avLst/>
          </a:prstGeom>
          <a:noFill/>
        </p:spPr>
        <p:txBody>
          <a:bodyPr wrap="square" lIns="27432" rIns="27432" tIns="18288" bIns="18288" anchor="t">
            <a:spAutoFit/>
          </a:bodyPr>
          <a:lstStyle/>
          <a:p>
            <a:pPr algn="l">
              <a:spcBef>
                <a:spcPts val="0"/>
              </a:spcBef>
              <a:spcAft>
                <a:spcPts val="0"/>
              </a:spcAft>
            </a:pPr>
            <a:r>
              <a:rPr sz="1600" b="1" i="0">
                <a:solidFill>
                  <a:srgbClr val="1E1E1E"/>
                </a:solidFill>
                <a:latin typeface="Arial"/>
              </a:rPr>
              <a:t>Problem Statement</a:t>
            </a:r>
          </a:p>
        </p:txBody>
      </p:sp>
      <p:sp>
        <p:nvSpPr>
          <p:cNvPr id="8" name="TextBox 7"/>
          <p:cNvSpPr txBox="1"/>
          <p:nvPr/>
        </p:nvSpPr>
        <p:spPr>
          <a:xfrm>
            <a:off x="566928" y="3968496"/>
            <a:ext cx="5623560" cy="1325880"/>
          </a:xfrm>
          <a:prstGeom prst="rect">
            <a:avLst/>
          </a:prstGeom>
          <a:noFill/>
        </p:spPr>
        <p:txBody>
          <a:bodyPr wrap="square" lIns="27432" rIns="27432" tIns="18288" bIns="18288" anchor="t">
            <a:spAutoFit/>
          </a:bodyPr>
          <a:lstStyle/>
          <a:p>
            <a:pPr algn="l">
              <a:spcBef>
                <a:spcPts val="0"/>
              </a:spcBef>
              <a:spcAft>
                <a:spcPts val="0"/>
              </a:spcAft>
            </a:pPr>
            <a:r>
              <a:rPr sz="1550" b="0" i="0">
                <a:solidFill>
                  <a:srgbClr val="1E1E1E"/>
                </a:solidFill>
                <a:latin typeface="Arial"/>
              </a:rPr>
              <a:t>• ICAR, IMD and climate-science sources publish reliable information, but it is fragmented across documents and portals.
• Extension workers need district-, crop- and scenario-specific guidance without manually searching multiple sources.
• General-purpose LLMs can be fluent without being grounded in the relevant official guidance.</a:t>
            </a:r>
          </a:p>
        </p:txBody>
      </p:sp>
      <p:sp>
        <p:nvSpPr>
          <p:cNvPr id="9" name="TextBox 8"/>
          <p:cNvSpPr txBox="1"/>
          <p:nvPr/>
        </p:nvSpPr>
        <p:spPr>
          <a:xfrm>
            <a:off x="6903720" y="2176272"/>
            <a:ext cx="3977639" cy="274320"/>
          </a:xfrm>
          <a:prstGeom prst="rect">
            <a:avLst/>
          </a:prstGeom>
          <a:noFill/>
        </p:spPr>
        <p:txBody>
          <a:bodyPr wrap="square" lIns="27432" rIns="27432" tIns="18288" bIns="18288" anchor="t">
            <a:spAutoFit/>
          </a:bodyPr>
          <a:lstStyle/>
          <a:p>
            <a:pPr algn="ctr">
              <a:spcBef>
                <a:spcPts val="0"/>
              </a:spcBef>
              <a:spcAft>
                <a:spcPts val="0"/>
              </a:spcAft>
            </a:pPr>
            <a:r>
              <a:rPr sz="1500" b="1" i="0">
                <a:solidFill>
                  <a:srgbClr val="234178"/>
                </a:solidFill>
                <a:latin typeface="Arial"/>
              </a:rPr>
              <a:t>CLIMATE SIGNAL</a:t>
            </a:r>
          </a:p>
        </p:txBody>
      </p:sp>
      <p:sp>
        <p:nvSpPr>
          <p:cNvPr id="10" name="TextBox 9"/>
          <p:cNvSpPr txBox="1"/>
          <p:nvPr/>
        </p:nvSpPr>
        <p:spPr>
          <a:xfrm>
            <a:off x="6903720" y="2523744"/>
            <a:ext cx="3977639" cy="310896"/>
          </a:xfrm>
          <a:prstGeom prst="rect">
            <a:avLst/>
          </a:prstGeom>
          <a:noFill/>
        </p:spPr>
        <p:txBody>
          <a:bodyPr wrap="square" lIns="27432" rIns="27432" tIns="18288" bIns="18288" anchor="t">
            <a:spAutoFit/>
          </a:bodyPr>
          <a:lstStyle/>
          <a:p>
            <a:pPr algn="ctr">
              <a:spcBef>
                <a:spcPts val="0"/>
              </a:spcBef>
              <a:spcAft>
                <a:spcPts val="0"/>
              </a:spcAft>
            </a:pPr>
            <a:r>
              <a:rPr sz="1800" b="1" i="0">
                <a:solidFill>
                  <a:srgbClr val="1E1E1E"/>
                </a:solidFill>
                <a:latin typeface="Arial"/>
              </a:rPr>
              <a:t>El Niño / ENSO</a:t>
            </a:r>
          </a:p>
        </p:txBody>
      </p:sp>
      <p:sp>
        <p:nvSpPr>
          <p:cNvPr id="11" name="TextBox 10"/>
          <p:cNvSpPr txBox="1"/>
          <p:nvPr/>
        </p:nvSpPr>
        <p:spPr>
          <a:xfrm>
            <a:off x="8705088" y="2624328"/>
            <a:ext cx="365760" cy="320040"/>
          </a:xfrm>
          <a:prstGeom prst="rect">
            <a:avLst/>
          </a:prstGeom>
          <a:noFill/>
        </p:spPr>
        <p:txBody>
          <a:bodyPr wrap="square" lIns="27432" rIns="27432" tIns="18288" bIns="18288" anchor="t">
            <a:spAutoFit/>
          </a:bodyPr>
          <a:lstStyle/>
          <a:p>
            <a:pPr algn="ctr">
              <a:spcBef>
                <a:spcPts val="0"/>
              </a:spcBef>
              <a:spcAft>
                <a:spcPts val="0"/>
              </a:spcAft>
            </a:pPr>
            <a:r>
              <a:rPr sz="1450" b="1" i="0">
                <a:solidFill>
                  <a:srgbClr val="C60000"/>
                </a:solidFill>
                <a:latin typeface="Arial"/>
              </a:rPr>
              <a:t>↓</a:t>
            </a:r>
          </a:p>
        </p:txBody>
      </p:sp>
      <p:sp>
        <p:nvSpPr>
          <p:cNvPr id="12" name="TextBox 11"/>
          <p:cNvSpPr txBox="1"/>
          <p:nvPr/>
        </p:nvSpPr>
        <p:spPr>
          <a:xfrm>
            <a:off x="6903720" y="3218688"/>
            <a:ext cx="3977639" cy="274320"/>
          </a:xfrm>
          <a:prstGeom prst="rect">
            <a:avLst/>
          </a:prstGeom>
          <a:noFill/>
        </p:spPr>
        <p:txBody>
          <a:bodyPr wrap="square" lIns="27432" rIns="27432" tIns="18288" bIns="18288" anchor="t">
            <a:spAutoFit/>
          </a:bodyPr>
          <a:lstStyle/>
          <a:p>
            <a:pPr algn="ctr">
              <a:spcBef>
                <a:spcPts val="0"/>
              </a:spcBef>
              <a:spcAft>
                <a:spcPts val="0"/>
              </a:spcAft>
            </a:pPr>
            <a:r>
              <a:rPr sz="1500" b="1" i="0">
                <a:solidFill>
                  <a:srgbClr val="234178"/>
                </a:solidFill>
                <a:latin typeface="Arial"/>
              </a:rPr>
              <a:t>LOCAL CONTEXT</a:t>
            </a:r>
          </a:p>
        </p:txBody>
      </p:sp>
      <p:sp>
        <p:nvSpPr>
          <p:cNvPr id="13" name="TextBox 12"/>
          <p:cNvSpPr txBox="1"/>
          <p:nvPr/>
        </p:nvSpPr>
        <p:spPr>
          <a:xfrm>
            <a:off x="6903720" y="3566160"/>
            <a:ext cx="3977639" cy="310896"/>
          </a:xfrm>
          <a:prstGeom prst="rect">
            <a:avLst/>
          </a:prstGeom>
          <a:noFill/>
        </p:spPr>
        <p:txBody>
          <a:bodyPr wrap="square" lIns="27432" rIns="27432" tIns="18288" bIns="18288" anchor="t">
            <a:spAutoFit/>
          </a:bodyPr>
          <a:lstStyle/>
          <a:p>
            <a:pPr algn="ctr">
              <a:spcBef>
                <a:spcPts val="0"/>
              </a:spcBef>
              <a:spcAft>
                <a:spcPts val="0"/>
              </a:spcAft>
            </a:pPr>
            <a:r>
              <a:rPr sz="1800" b="1" i="0">
                <a:solidFill>
                  <a:srgbClr val="1E1E1E"/>
                </a:solidFill>
                <a:latin typeface="Arial"/>
              </a:rPr>
              <a:t>District • Crop • Month</a:t>
            </a:r>
          </a:p>
        </p:txBody>
      </p:sp>
      <p:sp>
        <p:nvSpPr>
          <p:cNvPr id="14" name="TextBox 13"/>
          <p:cNvSpPr txBox="1"/>
          <p:nvPr/>
        </p:nvSpPr>
        <p:spPr>
          <a:xfrm>
            <a:off x="8705088" y="3666744"/>
            <a:ext cx="365760" cy="320040"/>
          </a:xfrm>
          <a:prstGeom prst="rect">
            <a:avLst/>
          </a:prstGeom>
          <a:noFill/>
        </p:spPr>
        <p:txBody>
          <a:bodyPr wrap="square" lIns="27432" rIns="27432" tIns="18288" bIns="18288" anchor="t">
            <a:spAutoFit/>
          </a:bodyPr>
          <a:lstStyle/>
          <a:p>
            <a:pPr algn="ctr">
              <a:spcBef>
                <a:spcPts val="0"/>
              </a:spcBef>
              <a:spcAft>
                <a:spcPts val="0"/>
              </a:spcAft>
            </a:pPr>
            <a:r>
              <a:rPr sz="1450" b="1" i="0">
                <a:solidFill>
                  <a:srgbClr val="C60000"/>
                </a:solidFill>
                <a:latin typeface="Arial"/>
              </a:rPr>
              <a:t>↓</a:t>
            </a:r>
          </a:p>
        </p:txBody>
      </p:sp>
      <p:sp>
        <p:nvSpPr>
          <p:cNvPr id="15" name="TextBox 14"/>
          <p:cNvSpPr txBox="1"/>
          <p:nvPr/>
        </p:nvSpPr>
        <p:spPr>
          <a:xfrm>
            <a:off x="6903720" y="4251958"/>
            <a:ext cx="3977639" cy="274320"/>
          </a:xfrm>
          <a:prstGeom prst="rect">
            <a:avLst/>
          </a:prstGeom>
          <a:noFill/>
        </p:spPr>
        <p:txBody>
          <a:bodyPr wrap="square" lIns="27432" rIns="27432" tIns="18288" bIns="18288" anchor="t">
            <a:spAutoFit/>
          </a:bodyPr>
          <a:lstStyle/>
          <a:p>
            <a:pPr algn="ctr">
              <a:spcBef>
                <a:spcPts val="0"/>
              </a:spcBef>
              <a:spcAft>
                <a:spcPts val="0"/>
              </a:spcAft>
            </a:pPr>
            <a:r>
              <a:rPr sz="1500" b="1" i="0">
                <a:solidFill>
                  <a:srgbClr val="234178"/>
                </a:solidFill>
                <a:latin typeface="Arial"/>
              </a:rPr>
              <a:t>ACTIONABLE ADVISORY</a:t>
            </a:r>
          </a:p>
        </p:txBody>
      </p:sp>
      <p:sp>
        <p:nvSpPr>
          <p:cNvPr id="16" name="TextBox 15"/>
          <p:cNvSpPr txBox="1"/>
          <p:nvPr/>
        </p:nvSpPr>
        <p:spPr>
          <a:xfrm>
            <a:off x="6537960" y="4608576"/>
            <a:ext cx="4709160" cy="502920"/>
          </a:xfrm>
          <a:prstGeom prst="rect">
            <a:avLst/>
          </a:prstGeom>
          <a:noFill/>
        </p:spPr>
        <p:txBody>
          <a:bodyPr wrap="square" lIns="27432" rIns="27432" tIns="18288" bIns="18288" anchor="t">
            <a:spAutoFit/>
          </a:bodyPr>
          <a:lstStyle/>
          <a:p>
            <a:pPr algn="ctr">
              <a:spcBef>
                <a:spcPts val="0"/>
              </a:spcBef>
              <a:spcAft>
                <a:spcPts val="0"/>
              </a:spcAft>
            </a:pPr>
            <a:r>
              <a:rPr sz="1800" b="1" i="0">
                <a:solidFill>
                  <a:srgbClr val="1E1E1E"/>
                </a:solidFill>
                <a:latin typeface="Arial"/>
              </a:rPr>
              <a:t>Recommendation → Reason → Source</a:t>
            </a:r>
          </a:p>
        </p:txBody>
      </p:sp>
      <p:sp>
        <p:nvSpPr>
          <p:cNvPr id="18" name="Rectangle 17"/>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 name="Picture 8"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536192"/>
            <a:ext cx="11109960" cy="347472"/>
          </a:xfrm>
          <a:prstGeom prst="rect">
            <a:avLst/>
          </a:prstGeom>
          <a:noFill/>
        </p:spPr>
        <p:txBody>
          <a:bodyPr wrap="square" lIns="18288" rIns="18288" tIns="9144" bIns="9144" anchor="t">
            <a:spAutoFit/>
          </a:bodyPr>
          <a:lstStyle/>
          <a:p>
            <a:pPr algn="ctr">
              <a:spcBef>
                <a:spcPts val="0"/>
              </a:spcBef>
              <a:spcAft>
                <a:spcPts val="0"/>
              </a:spcAft>
            </a:pPr>
            <a:r>
              <a:rPr sz="2300" b="1" i="0">
                <a:solidFill>
                  <a:srgbClr val="234178"/>
                </a:solidFill>
                <a:latin typeface="Arial"/>
              </a:rPr>
              <a:t>OBJECTIVES</a:t>
            </a:r>
          </a:p>
        </p:txBody>
      </p:sp>
      <p:sp>
        <p:nvSpPr>
          <p:cNvPr id="5" name="TextBox 4"/>
          <p:cNvSpPr txBox="1"/>
          <p:nvPr/>
        </p:nvSpPr>
        <p:spPr>
          <a:xfrm>
            <a:off x="502920" y="2029968"/>
            <a:ext cx="2194560" cy="274320"/>
          </a:xfrm>
          <a:prstGeom prst="rect">
            <a:avLst/>
          </a:prstGeom>
          <a:noFill/>
        </p:spPr>
        <p:txBody>
          <a:bodyPr wrap="square" lIns="18288" rIns="18288" tIns="9144" bIns="9144" anchor="t">
            <a:spAutoFit/>
          </a:bodyPr>
          <a:lstStyle/>
          <a:p>
            <a:pPr algn="l">
              <a:spcBef>
                <a:spcPts val="0"/>
              </a:spcBef>
              <a:spcAft>
                <a:spcPts val="0"/>
              </a:spcAft>
            </a:pPr>
            <a:r>
              <a:rPr sz="1600" b="1" i="0">
                <a:solidFill>
                  <a:srgbClr val="1E1E1E"/>
                </a:solidFill>
                <a:latin typeface="Arial"/>
              </a:rPr>
              <a:t>Primary Objective</a:t>
            </a:r>
          </a:p>
        </p:txBody>
      </p:sp>
      <p:sp>
        <p:nvSpPr>
          <p:cNvPr id="6" name="TextBox 5"/>
          <p:cNvSpPr txBox="1"/>
          <p:nvPr/>
        </p:nvSpPr>
        <p:spPr>
          <a:xfrm>
            <a:off x="566928" y="2377440"/>
            <a:ext cx="10652760" cy="685800"/>
          </a:xfrm>
          <a:prstGeom prst="rect">
            <a:avLst/>
          </a:prstGeom>
          <a:noFill/>
        </p:spPr>
        <p:txBody>
          <a:bodyPr wrap="square" lIns="18288" rIns="18288" tIns="9144" bIns="9144" anchor="t">
            <a:spAutoFit/>
          </a:bodyPr>
          <a:lstStyle/>
          <a:p>
            <a:pPr algn="l">
              <a:spcBef>
                <a:spcPts val="0"/>
              </a:spcBef>
              <a:spcAft>
                <a:spcPts val="0"/>
              </a:spcAft>
            </a:pPr>
            <a:r>
              <a:rPr sz="1700" b="0" i="0">
                <a:solidFill>
                  <a:srgbClr val="1E1E1E"/>
                </a:solidFill>
                <a:latin typeface="Arial"/>
              </a:rPr>
              <a:t>Design and implement a Retrieval-Augmented Generation (RAG) system that synthesizes verified agricultural guidance into localized, explainable advisories for KVK officers and extension workers during El Niño scenarios.</a:t>
            </a:r>
          </a:p>
        </p:txBody>
      </p:sp>
      <p:sp>
        <p:nvSpPr>
          <p:cNvPr id="7" name="TextBox 6"/>
          <p:cNvSpPr txBox="1"/>
          <p:nvPr/>
        </p:nvSpPr>
        <p:spPr>
          <a:xfrm>
            <a:off x="502920" y="3246120"/>
            <a:ext cx="2103120" cy="274320"/>
          </a:xfrm>
          <a:prstGeom prst="rect">
            <a:avLst/>
          </a:prstGeom>
          <a:noFill/>
        </p:spPr>
        <p:txBody>
          <a:bodyPr wrap="square" lIns="18288" rIns="18288" tIns="9144" bIns="9144" anchor="t">
            <a:spAutoFit/>
          </a:bodyPr>
          <a:lstStyle/>
          <a:p>
            <a:pPr algn="l">
              <a:spcBef>
                <a:spcPts val="0"/>
              </a:spcBef>
              <a:spcAft>
                <a:spcPts val="0"/>
              </a:spcAft>
            </a:pPr>
            <a:r>
              <a:rPr sz="1600" b="1" i="0">
                <a:solidFill>
                  <a:srgbClr val="1E1E1E"/>
                </a:solidFill>
                <a:latin typeface="Arial"/>
              </a:rPr>
              <a:t>Specific Goals</a:t>
            </a:r>
          </a:p>
        </p:txBody>
      </p:sp>
      <p:sp>
        <p:nvSpPr>
          <p:cNvPr id="8" name="TextBox 7"/>
          <p:cNvSpPr txBox="1"/>
          <p:nvPr/>
        </p:nvSpPr>
        <p:spPr>
          <a:xfrm>
            <a:off x="594360" y="3611880"/>
            <a:ext cx="10607040" cy="1828800"/>
          </a:xfrm>
          <a:prstGeom prst="rect">
            <a:avLst/>
          </a:prstGeom>
          <a:noFill/>
        </p:spPr>
        <p:txBody>
          <a:bodyPr wrap="square" lIns="18288" rIns="18288" tIns="9144" bIns="9144">
            <a:spAutoFit/>
          </a:bodyPr>
          <a:lstStyle/>
          <a:p>
            <a:pPr>
              <a:spcBef>
                <a:spcPts val="0"/>
              </a:spcBef>
              <a:spcAft>
                <a:spcPts val="500"/>
              </a:spcAft>
              <a:defRPr sz="1320">
                <a:solidFill>
                  <a:srgbClr val="191919"/>
                </a:solidFill>
                <a:latin typeface="Arial"/>
              </a:defRPr>
            </a:pPr>
            <a:r>
              <a:rPr sz="1600" b="0">
                <a:solidFill>
                  <a:srgbClr val="1E1E1E"/>
                </a:solidFill>
                <a:latin typeface="Arial"/>
              </a:rPr>
              <a:t>• Build a curated knowledge base using ICAR contingency plans, IMD advisories and verified ENSO literature.</a:t>
            </a:r>
          </a:p>
          <a:p>
            <a:pPr>
              <a:spcBef>
                <a:spcPts val="0"/>
              </a:spcBef>
              <a:spcAft>
                <a:spcPts val="500"/>
              </a:spcAft>
              <a:defRPr sz="1320">
                <a:solidFill>
                  <a:srgbClr val="191919"/>
                </a:solidFill>
                <a:latin typeface="Arial"/>
              </a:defRPr>
            </a:pPr>
            <a:r>
              <a:rPr sz="1600" b="0">
                <a:solidFill>
                  <a:srgbClr val="1E1E1E"/>
                </a:solidFill>
                <a:latin typeface="Arial"/>
              </a:rPr>
              <a:t>• Retrieve guidance using district, crop, month and El Niño scenario as context.</a:t>
            </a:r>
          </a:p>
          <a:p>
            <a:pPr>
              <a:spcBef>
                <a:spcPts val="0"/>
              </a:spcBef>
              <a:spcAft>
                <a:spcPts val="500"/>
              </a:spcAft>
              <a:defRPr sz="1320">
                <a:solidFill>
                  <a:srgbClr val="191919"/>
                </a:solidFill>
                <a:latin typeface="Arial"/>
              </a:defRPr>
            </a:pPr>
            <a:r>
              <a:rPr sz="1600" b="0">
                <a:solidFill>
                  <a:srgbClr val="1E1E1E"/>
                </a:solidFill>
                <a:latin typeface="Arial"/>
              </a:rPr>
              <a:t>• Generate traceable output in the format Recommendation → Reason → Source.</a:t>
            </a:r>
          </a:p>
          <a:p>
            <a:pPr>
              <a:spcBef>
                <a:spcPts val="0"/>
              </a:spcBef>
              <a:spcAft>
                <a:spcPts val="500"/>
              </a:spcAft>
              <a:defRPr sz="1320">
                <a:solidFill>
                  <a:srgbClr val="191919"/>
                </a:solidFill>
                <a:latin typeface="Arial"/>
              </a:defRPr>
            </a:pPr>
            <a:r>
              <a:rPr sz="1600" b="0">
                <a:solidFill>
                  <a:srgbClr val="1E1E1E"/>
                </a:solidFill>
                <a:latin typeface="Arial"/>
              </a:rPr>
              <a:t>• Evaluate the grounded system against a plain LLM baseline.</a:t>
            </a:r>
          </a:p>
        </p:txBody>
      </p:sp>
      <p:sp>
        <p:nvSpPr>
          <p:cNvPr id="10" name="Rectangle 9"/>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1" name="Picture 20"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19" name="TextBox 18"/>
          <p:cNvSpPr txBox="1"/>
          <p:nvPr/>
        </p:nvSpPr>
        <p:spPr>
          <a:xfrm>
            <a:off x="411480" y="1609344"/>
            <a:ext cx="11109960" cy="347472"/>
          </a:xfrm>
          <a:prstGeom prst="rect">
            <a:avLst/>
          </a:prstGeom>
          <a:noFill/>
        </p:spPr>
        <p:txBody>
          <a:bodyPr wrap="square" lIns="22860" rIns="22860" tIns="9144" bIns="9144" anchor="ctr">
            <a:spAutoFit/>
          </a:bodyPr>
          <a:lstStyle/>
          <a:p>
            <a:pPr algn="ctr">
              <a:spcBef>
                <a:spcPts val="0"/>
              </a:spcBef>
              <a:spcAft>
                <a:spcPts val="0"/>
              </a:spcAft>
            </a:pPr>
            <a:r>
              <a:rPr sz="2300" b="1">
                <a:solidFill>
                  <a:srgbClr val="234178"/>
                </a:solidFill>
                <a:latin typeface="Arial"/>
              </a:rPr>
              <a:t>LITERATURE SURVEY</a:t>
            </a:r>
          </a:p>
        </p:txBody>
      </p:sp>
      <p:graphicFrame>
        <p:nvGraphicFramePr>
          <p:cNvPr id="20" name="Table 19"/>
          <p:cNvGraphicFramePr>
            <a:graphicFrameLocks noGrp="1"/>
          </p:cNvGraphicFramePr>
          <p:nvPr/>
        </p:nvGraphicFramePr>
        <p:xfrm>
          <a:off x="384048" y="2029968"/>
          <a:ext cx="11356848" cy="3621024"/>
        </p:xfrm>
        <a:graphic>
          <a:graphicData uri="http://schemas.openxmlformats.org/drawingml/2006/table">
            <a:tbl>
              <a:tblPr firstRow="1" bandRow="1">
                <a:tableStyleId>{5C22544A-7EE6-4342-B048-85BDC9FD1C3A}</a:tableStyleId>
              </a:tblPr>
              <a:tblGrid>
                <a:gridCol w="1280160"/>
                <a:gridCol w="2011680"/>
                <a:gridCol w="1554480"/>
                <a:gridCol w="1572768"/>
                <a:gridCol w="1572768"/>
                <a:gridCol w="1664208"/>
                <a:gridCol w="1819656"/>
              </a:tblGrid>
              <a:tr h="420624">
                <a:tc>
                  <a:txBody>
                    <a:bodyPr/>
                    <a:lstStyle/>
                    <a:p>
                      <a:pPr algn="ctr">
                        <a:lnSpc>
                          <a:spcPct val="86000"/>
                        </a:lnSpc>
                        <a:spcBef>
                          <a:spcPts val="0"/>
                        </a:spcBef>
                        <a:spcAft>
                          <a:spcPts val="0"/>
                        </a:spcAft>
                      </a:pPr>
                      <a:r>
                        <a:rPr sz="1500" b="1">
                          <a:solidFill>
                            <a:srgbClr val="1E1E1E"/>
                          </a:solidFill>
                          <a:latin typeface="Arial"/>
                        </a:rPr>
                        <a:t>Author(s) &amp; Year</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Paper Title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Method / Technique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Objective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Limitations</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Key Findings</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Research Gap</a:t>
                      </a:r>
                    </a:p>
                  </a:txBody>
                  <a:tcPr marL="36576" marR="36576" marT="32004" marB="32004" anchor="t">
                    <a:solidFill>
                      <a:srgbClr val="FFFFFF"/>
                    </a:solidFill>
                  </a:tcPr>
                </a:tc>
              </a:tr>
              <a:tr h="1600200">
                <a:tc>
                  <a:txBody>
                    <a:bodyPr/>
                    <a:lstStyle/>
                    <a:p>
                      <a:pPr algn="l">
                        <a:lnSpc>
                          <a:spcPct val="86000"/>
                        </a:lnSpc>
                        <a:spcBef>
                          <a:spcPts val="0"/>
                        </a:spcBef>
                        <a:spcAft>
                          <a:spcPts val="0"/>
                        </a:spcAft>
                      </a:pPr>
                      <a:r>
                        <a:rPr sz="1480" b="1">
                          <a:solidFill>
                            <a:srgbClr val="1E1E1E"/>
                          </a:solidFill>
                          <a:latin typeface="Arial"/>
                        </a:rPr>
                        <a:t>Soni, A.K., Tripathi, J.N., Sateesh, M. (2025)</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Impact of soil moisture and rainfall variability on soybean crop yield during El Niño episodes in Maharashtra, India</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GLDAS soil moisture + IMD rainfall; zonal statistics; Mann–Kendall trend test</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Quantify El Niño effects on soil moisture, rainfall and soybean yield in Marathwada and Vidarbha</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Sub-regional correlation differs; GLDAS resolution limits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Very strong El Niño: Marathwada −40% rainfall / −70% yield; Vidarbha −7% / −57%</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Supports district-specific advisory logic rather than one uniform rule</a:t>
                      </a:r>
                    </a:p>
                  </a:txBody>
                  <a:tcPr marL="36576" marR="36576" marT="32004" marB="32004" anchor="t">
                    <a:solidFill>
                      <a:srgbClr val="FFFFFF"/>
                    </a:solidFill>
                  </a:tcPr>
                </a:tc>
              </a:tr>
              <a:tr h="1600200">
                <a:tc>
                  <a:txBody>
                    <a:bodyPr/>
                    <a:lstStyle/>
                    <a:p>
                      <a:pPr algn="l">
                        <a:lnSpc>
                          <a:spcPct val="86000"/>
                        </a:lnSpc>
                        <a:spcBef>
                          <a:spcPts val="0"/>
                        </a:spcBef>
                        <a:spcAft>
                          <a:spcPts val="0"/>
                        </a:spcAft>
                      </a:pPr>
                      <a:r>
                        <a:rPr sz="1480" b="1">
                          <a:solidFill>
                            <a:srgbClr val="1E1E1E"/>
                          </a:solidFill>
                          <a:latin typeface="Arial"/>
                        </a:rPr>
                        <a:t>Athira, K.S., Roxy, M.K., Dasgupta, P., Saranya, J.S., Singh, V.K., Attada, R. (2023)</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Regional and temporal variability of Indian summer monsoon rainfall in relation to El Niño Southern Oscillation</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PCA-Biplot analysis; 1901–2018 historical time series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Understand regional and temporal changes in ENSO–monsoon relationship</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Coordinate boxes are not administrative districts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ENSO–monsoon relationship varies regionally and has weakened nationally since 1981</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Justifies region-aware retrieval and geographic mapping</a:t>
                      </a:r>
                    </a:p>
                  </a:txBody>
                  <a:tcPr marL="36576" marR="36576" marT="32004" marB="32004" anchor="t">
                    <a:solidFill>
                      <a:srgbClr val="FFFFFF"/>
                    </a:solidFill>
                  </a:tcPr>
                </a:tc>
              </a:tr>
            </a:tbl>
          </a:graphicData>
        </a:graphic>
      </p:graphicFrame>
      <p:sp>
        <p:nvSpPr>
          <p:cNvPr id="22" name="Rectangle 21"/>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1" name="Picture 20"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19" name="TextBox 18"/>
          <p:cNvSpPr txBox="1"/>
          <p:nvPr/>
        </p:nvSpPr>
        <p:spPr>
          <a:xfrm>
            <a:off x="411480" y="1609344"/>
            <a:ext cx="11109960" cy="347472"/>
          </a:xfrm>
          <a:prstGeom prst="rect">
            <a:avLst/>
          </a:prstGeom>
          <a:noFill/>
        </p:spPr>
        <p:txBody>
          <a:bodyPr wrap="square" lIns="22860" rIns="22860" tIns="9144" bIns="9144" anchor="ctr">
            <a:spAutoFit/>
          </a:bodyPr>
          <a:lstStyle/>
          <a:p>
            <a:pPr algn="ctr">
              <a:spcBef>
                <a:spcPts val="0"/>
              </a:spcBef>
              <a:spcAft>
                <a:spcPts val="0"/>
              </a:spcAft>
            </a:pPr>
            <a:r>
              <a:rPr sz="2300" b="1">
                <a:solidFill>
                  <a:srgbClr val="234178"/>
                </a:solidFill>
                <a:latin typeface="Arial"/>
              </a:rPr>
              <a:t>LITERATURE SURVEY</a:t>
            </a:r>
          </a:p>
        </p:txBody>
      </p:sp>
      <p:graphicFrame>
        <p:nvGraphicFramePr>
          <p:cNvPr id="20" name="Table 19"/>
          <p:cNvGraphicFramePr>
            <a:graphicFrameLocks noGrp="1"/>
          </p:cNvGraphicFramePr>
          <p:nvPr/>
        </p:nvGraphicFramePr>
        <p:xfrm>
          <a:off x="384048" y="2029968"/>
          <a:ext cx="11356848" cy="3621024"/>
        </p:xfrm>
        <a:graphic>
          <a:graphicData uri="http://schemas.openxmlformats.org/drawingml/2006/table">
            <a:tbl>
              <a:tblPr firstRow="1" bandRow="1">
                <a:tableStyleId>{5C22544A-7EE6-4342-B048-85BDC9FD1C3A}</a:tableStyleId>
              </a:tblPr>
              <a:tblGrid>
                <a:gridCol w="1280160"/>
                <a:gridCol w="2011680"/>
                <a:gridCol w="1554480"/>
                <a:gridCol w="1572768"/>
                <a:gridCol w="1572768"/>
                <a:gridCol w="1664208"/>
                <a:gridCol w="1819656"/>
              </a:tblGrid>
              <a:tr h="420624">
                <a:tc>
                  <a:txBody>
                    <a:bodyPr/>
                    <a:lstStyle/>
                    <a:p>
                      <a:pPr algn="ctr">
                        <a:lnSpc>
                          <a:spcPct val="86000"/>
                        </a:lnSpc>
                        <a:spcBef>
                          <a:spcPts val="0"/>
                        </a:spcBef>
                        <a:spcAft>
                          <a:spcPts val="0"/>
                        </a:spcAft>
                      </a:pPr>
                      <a:r>
                        <a:rPr sz="1500" b="1">
                          <a:solidFill>
                            <a:srgbClr val="1E1E1E"/>
                          </a:solidFill>
                          <a:latin typeface="Arial"/>
                        </a:rPr>
                        <a:t>Author(s) &amp; Year</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Paper Title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Method / Technique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Objective</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Limitations</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Key Findings</a:t>
                      </a:r>
                    </a:p>
                  </a:txBody>
                  <a:tcPr marL="36576" marR="36576" marT="32004" marB="32004" anchor="t">
                    <a:solidFill>
                      <a:srgbClr val="FFFFFF"/>
                    </a:solidFill>
                  </a:tcPr>
                </a:tc>
                <a:tc>
                  <a:txBody>
                    <a:bodyPr/>
                    <a:lstStyle/>
                    <a:p>
                      <a:pPr algn="ctr">
                        <a:lnSpc>
                          <a:spcPct val="86000"/>
                        </a:lnSpc>
                        <a:spcBef>
                          <a:spcPts val="0"/>
                        </a:spcBef>
                        <a:spcAft>
                          <a:spcPts val="0"/>
                        </a:spcAft>
                      </a:pPr>
                      <a:r>
                        <a:rPr sz="1500" b="1">
                          <a:solidFill>
                            <a:srgbClr val="1E1E1E"/>
                          </a:solidFill>
                          <a:latin typeface="Arial"/>
                        </a:rPr>
                        <a:t>Research Gap</a:t>
                      </a:r>
                    </a:p>
                  </a:txBody>
                  <a:tcPr marL="36576" marR="36576" marT="32004" marB="32004" anchor="t">
                    <a:solidFill>
                      <a:srgbClr val="FFFFFF"/>
                    </a:solidFill>
                  </a:tcPr>
                </a:tc>
              </a:tr>
              <a:tr h="1600200">
                <a:tc>
                  <a:txBody>
                    <a:bodyPr/>
                    <a:lstStyle/>
                    <a:p>
                      <a:pPr algn="l">
                        <a:lnSpc>
                          <a:spcPct val="86000"/>
                        </a:lnSpc>
                        <a:spcBef>
                          <a:spcPts val="0"/>
                        </a:spcBef>
                        <a:spcAft>
                          <a:spcPts val="0"/>
                        </a:spcAft>
                      </a:pPr>
                      <a:r>
                        <a:rPr sz="1480" b="1">
                          <a:solidFill>
                            <a:srgbClr val="1E1E1E"/>
                          </a:solidFill>
                          <a:latin typeface="Arial"/>
                        </a:rPr>
                        <a:t>Hill, S.A. et al. (2025)</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More extreme Indian monsoon rainfall in El Niño summers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Observational rainfall analysis; 1901–2020</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Determine El Niño effects on total and extreme daily monsoon rainfall</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National-scale; not district-specific</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El Niño lowers seasonal rainfall but can increase extreme daily rainfall risk</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Advisories need separate deficit and extreme-rain warnings</a:t>
                      </a:r>
                    </a:p>
                  </a:txBody>
                  <a:tcPr marL="36576" marR="36576" marT="32004" marB="32004" anchor="t">
                    <a:solidFill>
                      <a:srgbClr val="FFFFFF"/>
                    </a:solidFill>
                  </a:tcPr>
                </a:tc>
              </a:tr>
              <a:tr h="1600200">
                <a:tc>
                  <a:txBody>
                    <a:bodyPr/>
                    <a:lstStyle/>
                    <a:p>
                      <a:pPr algn="l">
                        <a:lnSpc>
                          <a:spcPct val="86000"/>
                        </a:lnSpc>
                        <a:spcBef>
                          <a:spcPts val="0"/>
                        </a:spcBef>
                        <a:spcAft>
                          <a:spcPts val="0"/>
                        </a:spcAft>
                      </a:pPr>
                      <a:r>
                        <a:rPr sz="1480" b="1">
                          <a:solidFill>
                            <a:srgbClr val="1E1E1E"/>
                          </a:solidFill>
                          <a:latin typeface="Arial"/>
                        </a:rPr>
                        <a:t>Gurazada, M. et al. (2024)</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El Niño and positive Indian Ocean Dipole conditions simultaneously reduce the production of multiple cereals across India</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Climate indices + crop-production analysis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Assess combined ENSO/IOD effects on cereal production</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Production-level analysis does not directly generate advisories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Combined climate anomalies can reduce multiple cereal yields</a:t>
                      </a:r>
                    </a:p>
                  </a:txBody>
                  <a:tcPr marL="36576" marR="36576" marT="32004" marB="32004" anchor="t">
                    <a:solidFill>
                      <a:srgbClr val="FFFFFF"/>
                    </a:solidFill>
                  </a:tcPr>
                </a:tc>
                <a:tc>
                  <a:txBody>
                    <a:bodyPr/>
                    <a:lstStyle/>
                    <a:p>
                      <a:pPr algn="l">
                        <a:lnSpc>
                          <a:spcPct val="86000"/>
                        </a:lnSpc>
                        <a:spcBef>
                          <a:spcPts val="0"/>
                        </a:spcBef>
                        <a:spcAft>
                          <a:spcPts val="0"/>
                        </a:spcAft>
                      </a:pPr>
                      <a:r>
                        <a:rPr sz="1480" b="0">
                          <a:solidFill>
                            <a:srgbClr val="1E1E1E"/>
                          </a:solidFill>
                          <a:latin typeface="Arial"/>
                        </a:rPr>
                        <a:t>Motivates multi-source climate context in agricultural decisions</a:t>
                      </a:r>
                    </a:p>
                  </a:txBody>
                  <a:tcPr marL="36576" marR="36576" marT="32004" marB="32004" anchor="t">
                    <a:solidFill>
                      <a:srgbClr val="FFFFFF"/>
                    </a:solidFill>
                  </a:tcPr>
                </a:tc>
              </a:tr>
            </a:tbl>
          </a:graphicData>
        </a:graphic>
      </p:graphicFrame>
      <p:sp>
        <p:nvSpPr>
          <p:cNvPr id="22" name="Rectangle 21"/>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 name="Picture 10" descr="exact_somaiya_last_page_template_v7.png"/>
          <p:cNvPicPr>
            <a:picLocks noChangeAspect="1"/>
          </p:cNvPicPr>
          <p:nvPr/>
        </p:nvPicPr>
        <p:blipFill>
          <a:blip r:embed="rId3"/>
          <a:stretch>
            <a:fillRect/>
          </a:stretch>
        </p:blipFill>
        <p:spPr>
          <a:xfrm>
            <a:off x="0" y="0"/>
            <a:ext cx="12191999" cy="6858000"/>
          </a:xfrm>
          <a:prstGeom prst="rect">
            <a:avLst/>
          </a:prstGeom>
        </p:spPr>
      </p:pic>
      <p:sp>
        <p:nvSpPr>
          <p:cNvPr id="4" name="TextBox 3"/>
          <p:cNvSpPr txBox="1"/>
          <p:nvPr/>
        </p:nvSpPr>
        <p:spPr>
          <a:xfrm>
            <a:off x="411480" y="1609344"/>
            <a:ext cx="11109960" cy="347472"/>
          </a:xfrm>
          <a:prstGeom prst="rect">
            <a:avLst/>
          </a:prstGeom>
          <a:noFill/>
        </p:spPr>
        <p:txBody>
          <a:bodyPr wrap="square" lIns="27432" rIns="27432" tIns="18288" bIns="18288" anchor="t">
            <a:spAutoFit/>
          </a:bodyPr>
          <a:lstStyle/>
          <a:p>
            <a:pPr algn="ctr">
              <a:spcBef>
                <a:spcPts val="0"/>
              </a:spcBef>
              <a:spcAft>
                <a:spcPts val="0"/>
              </a:spcAft>
            </a:pPr>
            <a:r>
              <a:rPr sz="2300" b="1" i="0">
                <a:solidFill>
                  <a:srgbClr val="234178"/>
                </a:solidFill>
                <a:latin typeface="Arial"/>
              </a:rPr>
              <a:t>EXISTING SYSTEMS &amp; RESEARCH GAP</a:t>
            </a:r>
          </a:p>
        </p:txBody>
      </p:sp>
      <p:sp>
        <p:nvSpPr>
          <p:cNvPr id="5" name="TextBox 4"/>
          <p:cNvSpPr txBox="1"/>
          <p:nvPr/>
        </p:nvSpPr>
        <p:spPr>
          <a:xfrm>
            <a:off x="594360" y="1965960"/>
            <a:ext cx="4983480" cy="292608"/>
          </a:xfrm>
          <a:prstGeom prst="rect">
            <a:avLst/>
          </a:prstGeom>
          <a:noFill/>
        </p:spPr>
        <p:txBody>
          <a:bodyPr wrap="square" lIns="27432" rIns="27432" tIns="18288" bIns="18288" anchor="t">
            <a:spAutoFit/>
          </a:bodyPr>
          <a:lstStyle/>
          <a:p>
            <a:pPr algn="l">
              <a:spcBef>
                <a:spcPts val="0"/>
              </a:spcBef>
              <a:spcAft>
                <a:spcPts val="0"/>
              </a:spcAft>
            </a:pPr>
            <a:r>
              <a:rPr sz="1600" b="1" i="0">
                <a:solidFill>
                  <a:srgbClr val="234178"/>
                </a:solidFill>
                <a:latin typeface="Arial"/>
              </a:rPr>
              <a:t>EXISTING SYSTEM 1</a:t>
            </a:r>
          </a:p>
        </p:txBody>
      </p:sp>
      <p:sp>
        <p:nvSpPr>
          <p:cNvPr id="6" name="TextBox 5"/>
          <p:cNvSpPr txBox="1"/>
          <p:nvPr/>
        </p:nvSpPr>
        <p:spPr>
          <a:xfrm>
            <a:off x="621792" y="2267712"/>
            <a:ext cx="5074920" cy="1874519"/>
          </a:xfrm>
          <a:prstGeom prst="rect">
            <a:avLst/>
          </a:prstGeom>
          <a:noFill/>
        </p:spPr>
        <p:txBody>
          <a:bodyPr wrap="square" lIns="27432" rIns="27432" tIns="18288" bIns="18288" anchor="t">
            <a:spAutoFit/>
          </a:bodyPr>
          <a:lstStyle/>
          <a:p>
            <a:pPr algn="l">
              <a:spcBef>
                <a:spcPts val="0"/>
              </a:spcBef>
              <a:spcAft>
                <a:spcPts val="0"/>
              </a:spcAft>
            </a:pPr>
            <a:r>
              <a:rPr sz="1500" b="0" i="0">
                <a:solidFill>
                  <a:srgbClr val="1E1E1E"/>
                </a:solidFill>
                <a:latin typeface="Arial"/>
              </a:rPr>
              <a:t>RAG-based LLM Advisory Framework
Terna Engineering College, Navi Mumbai
• Uses Retrieval-Augmented Generation over Package of Practices documents for agricultural advisory.
• Covers multiple crops and compares different LLM approaches.
Limitation:
Does not explicitly use El Niño / ENSO scenario intensity as a retrieval-weighting variable.</a:t>
            </a:r>
          </a:p>
        </p:txBody>
      </p:sp>
      <p:sp>
        <p:nvSpPr>
          <p:cNvPr id="7" name="TextBox 6"/>
          <p:cNvSpPr txBox="1"/>
          <p:nvPr/>
        </p:nvSpPr>
        <p:spPr>
          <a:xfrm>
            <a:off x="6172200" y="1965960"/>
            <a:ext cx="4983480" cy="292608"/>
          </a:xfrm>
          <a:prstGeom prst="rect">
            <a:avLst/>
          </a:prstGeom>
          <a:noFill/>
        </p:spPr>
        <p:txBody>
          <a:bodyPr wrap="square" lIns="27432" rIns="27432" tIns="18288" bIns="18288" anchor="t">
            <a:spAutoFit/>
          </a:bodyPr>
          <a:lstStyle/>
          <a:p>
            <a:pPr algn="l">
              <a:spcBef>
                <a:spcPts val="0"/>
              </a:spcBef>
              <a:spcAft>
                <a:spcPts val="0"/>
              </a:spcAft>
            </a:pPr>
            <a:r>
              <a:rPr sz="1600" b="1" i="0">
                <a:solidFill>
                  <a:srgbClr val="234178"/>
                </a:solidFill>
                <a:latin typeface="Arial"/>
              </a:rPr>
              <a:t>EXISTING SYSTEM 2</a:t>
            </a:r>
          </a:p>
        </p:txBody>
      </p:sp>
      <p:sp>
        <p:nvSpPr>
          <p:cNvPr id="8" name="TextBox 7"/>
          <p:cNvSpPr txBox="1"/>
          <p:nvPr/>
        </p:nvSpPr>
        <p:spPr>
          <a:xfrm>
            <a:off x="6199632" y="2267712"/>
            <a:ext cx="5074920" cy="1874519"/>
          </a:xfrm>
          <a:prstGeom prst="rect">
            <a:avLst/>
          </a:prstGeom>
          <a:noFill/>
        </p:spPr>
        <p:txBody>
          <a:bodyPr wrap="square" lIns="27432" rIns="27432" tIns="18288" bIns="18288" anchor="t">
            <a:spAutoFit/>
          </a:bodyPr>
          <a:lstStyle/>
          <a:p>
            <a:pPr algn="l">
              <a:spcBef>
                <a:spcPts val="0"/>
              </a:spcBef>
              <a:spcAft>
                <a:spcPts val="0"/>
              </a:spcAft>
            </a:pPr>
            <a:r>
              <a:rPr sz="1500" b="0" i="0">
                <a:solidFill>
                  <a:srgbClr val="1E1E1E"/>
                </a:solidFill>
                <a:latin typeface="Arial"/>
              </a:rPr>
              <a:t>SukhaRakshak AI
International Water Management Institute (IWMI)
• AI-based drought advisory approach involving drought indicators, contingency plans and multilingual delivery.
• Intended for farmers, extension officers and drought managers.
Limitation:
Focuses on general drought severity rather than explicit El Niño scenario-intensity retrieval.</a:t>
            </a:r>
          </a:p>
        </p:txBody>
      </p:sp>
      <p:sp>
        <p:nvSpPr>
          <p:cNvPr id="9" name="TextBox 8"/>
          <p:cNvSpPr txBox="1"/>
          <p:nvPr/>
        </p:nvSpPr>
        <p:spPr>
          <a:xfrm>
            <a:off x="594360" y="4736592"/>
            <a:ext cx="2743200" cy="310896"/>
          </a:xfrm>
          <a:prstGeom prst="rect">
            <a:avLst/>
          </a:prstGeom>
          <a:noFill/>
        </p:spPr>
        <p:txBody>
          <a:bodyPr wrap="square" lIns="27432" rIns="27432" tIns="18288" bIns="18288" anchor="t">
            <a:spAutoFit/>
          </a:bodyPr>
          <a:lstStyle/>
          <a:p>
            <a:pPr algn="l">
              <a:spcBef>
                <a:spcPts val="0"/>
              </a:spcBef>
              <a:spcAft>
                <a:spcPts val="0"/>
              </a:spcAft>
            </a:pPr>
            <a:r>
              <a:rPr sz="1600" b="1" i="0">
                <a:solidFill>
                  <a:srgbClr val="CD0000"/>
                </a:solidFill>
                <a:latin typeface="Arial"/>
              </a:rPr>
              <a:t>RESEARCH GAP</a:t>
            </a:r>
          </a:p>
        </p:txBody>
      </p:sp>
      <p:sp>
        <p:nvSpPr>
          <p:cNvPr id="10" name="TextBox 9"/>
          <p:cNvSpPr txBox="1"/>
          <p:nvPr/>
        </p:nvSpPr>
        <p:spPr>
          <a:xfrm>
            <a:off x="621792" y="5065776"/>
            <a:ext cx="10652760" cy="713232"/>
          </a:xfrm>
          <a:prstGeom prst="rect">
            <a:avLst/>
          </a:prstGeom>
          <a:noFill/>
        </p:spPr>
        <p:txBody>
          <a:bodyPr wrap="square" lIns="27432" rIns="27432" tIns="18288" bIns="18288" anchor="t">
            <a:spAutoFit/>
          </a:bodyPr>
          <a:lstStyle/>
          <a:p>
            <a:pPr algn="l">
              <a:lnSpc>
                <a:spcPct val="95000"/>
              </a:lnSpc>
              <a:spcBef>
                <a:spcPts val="0"/>
              </a:spcBef>
              <a:spcAft>
                <a:spcPts val="0"/>
              </a:spcAft>
            </a:pPr>
            <a:r>
              <a:rPr sz="1500" b="0" i="0">
                <a:solidFill>
                  <a:srgbClr val="1E1E1E"/>
                </a:solidFill>
                <a:latin typeface="Arial"/>
              </a:rPr>
              <a:t>Neither system makes El Niño scenario intensity an explicit retrieval-weighting variable.
AgriAdvisor combines verified government contingency plans, weather advisories and climate science
with scenario-aware retrieval to generate district-, crop- and month-specific recommendations.</a:t>
            </a:r>
          </a:p>
        </p:txBody>
      </p:sp>
      <p:sp>
        <p:nvSpPr>
          <p:cNvPr id="12" name="Rectangle 11"/>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 name="Picture 18" descr="exact_somaiya_last_page_template_v7.png"/>
          <p:cNvPicPr>
            <a:picLocks noChangeAspect="1"/>
          </p:cNvPicPr>
          <p:nvPr/>
        </p:nvPicPr>
        <p:blipFill>
          <a:blip r:embed="rId5"/>
          <a:stretch>
            <a:fillRect/>
          </a:stretch>
        </p:blipFill>
        <p:spPr>
          <a:xfrm>
            <a:off x="0" y="0"/>
            <a:ext cx="12191999" cy="6858000"/>
          </a:xfrm>
          <a:prstGeom prst="rect">
            <a:avLst/>
          </a:prstGeom>
        </p:spPr>
      </p:pic>
      <p:sp>
        <p:nvSpPr>
          <p:cNvPr id="4" name="TextBox 3"/>
          <p:cNvSpPr txBox="1"/>
          <p:nvPr/>
        </p:nvSpPr>
        <p:spPr>
          <a:xfrm>
            <a:off x="411480" y="1609344"/>
            <a:ext cx="11109960" cy="310896"/>
          </a:xfrm>
          <a:prstGeom prst="rect">
            <a:avLst/>
          </a:prstGeom>
          <a:noFill/>
        </p:spPr>
        <p:txBody>
          <a:bodyPr wrap="square" lIns="18288" rIns="18288" tIns="9144" bIns="9144" anchor="t">
            <a:spAutoFit/>
          </a:bodyPr>
          <a:lstStyle/>
          <a:p>
            <a:pPr algn="ctr">
              <a:spcBef>
                <a:spcPts val="0"/>
              </a:spcBef>
              <a:spcAft>
                <a:spcPts val="0"/>
              </a:spcAft>
            </a:pPr>
            <a:r>
              <a:rPr sz="1850" b="1" i="0">
                <a:solidFill>
                  <a:srgbClr val="234178"/>
                </a:solidFill>
                <a:latin typeface="Arial"/>
              </a:rPr>
              <a:t>METHODOLOGY &amp; ARCHITECTURE</a:t>
            </a:r>
          </a:p>
        </p:txBody>
      </p:sp>
      <p:sp>
        <p:nvSpPr>
          <p:cNvPr id="5" name="TextBox 4"/>
          <p:cNvSpPr txBox="1"/>
          <p:nvPr/>
        </p:nvSpPr>
        <p:spPr>
          <a:xfrm>
            <a:off x="502920" y="2057400"/>
            <a:ext cx="914400" cy="292608"/>
          </a:xfrm>
          <a:prstGeom prst="rect">
            <a:avLst/>
          </a:prstGeom>
          <a:noFill/>
        </p:spPr>
        <p:txBody>
          <a:bodyPr wrap="square" lIns="18288" rIns="18288" tIns="9144" bIns="9144" anchor="t">
            <a:spAutoFit/>
          </a:bodyPr>
          <a:lstStyle/>
          <a:p>
            <a:pPr algn="l"/>
            <a:r>
              <a:rPr sz="1400" b="1" i="0">
                <a:solidFill>
                  <a:srgbClr val="191919"/>
                </a:solidFill>
                <a:latin typeface="Arial"/>
              </a:rPr>
              <a:t>Goal:</a:t>
            </a:r>
          </a:p>
        </p:txBody>
      </p:sp>
      <p:sp>
        <p:nvSpPr>
          <p:cNvPr id="6" name="TextBox 5"/>
          <p:cNvSpPr txBox="1"/>
          <p:nvPr/>
        </p:nvSpPr>
        <p:spPr>
          <a:xfrm>
            <a:off x="1325880" y="2057400"/>
            <a:ext cx="4709160" cy="594360"/>
          </a:xfrm>
          <a:prstGeom prst="rect">
            <a:avLst/>
          </a:prstGeom>
          <a:noFill/>
        </p:spPr>
        <p:txBody>
          <a:bodyPr wrap="square" lIns="18288" rIns="18288" tIns="9144" bIns="9144" anchor="t">
            <a:spAutoFit/>
          </a:bodyPr>
          <a:lstStyle/>
          <a:p>
            <a:pPr algn="l"/>
            <a:r>
              <a:rPr sz="1400" b="0" i="0">
                <a:solidFill>
                  <a:srgbClr val="191919"/>
                </a:solidFill>
                <a:latin typeface="Arial"/>
              </a:rPr>
              <a:t>Generate a localized, explainable agricultural advisory from verified sources.</a:t>
            </a:r>
          </a:p>
        </p:txBody>
      </p:sp>
      <p:sp>
        <p:nvSpPr>
          <p:cNvPr id="7" name="TextBox 6"/>
          <p:cNvSpPr txBox="1"/>
          <p:nvPr/>
        </p:nvSpPr>
        <p:spPr>
          <a:xfrm>
            <a:off x="502920" y="2724912"/>
            <a:ext cx="1234440" cy="292608"/>
          </a:xfrm>
          <a:prstGeom prst="rect">
            <a:avLst/>
          </a:prstGeom>
          <a:noFill/>
        </p:spPr>
        <p:txBody>
          <a:bodyPr wrap="square" lIns="18288" rIns="18288" tIns="9144" bIns="9144" anchor="t">
            <a:spAutoFit/>
          </a:bodyPr>
          <a:lstStyle/>
          <a:p>
            <a:r>
              <a:rPr sz="1500" b="1">
                <a:latin typeface="Arial"/>
              </a:rPr>
              <a:t>Approach</a:t>
            </a:r>
          </a:p>
        </p:txBody>
      </p:sp>
      <p:sp>
        <p:nvSpPr>
          <p:cNvPr id="8" name="TextBox 7"/>
          <p:cNvSpPr txBox="1"/>
          <p:nvPr/>
        </p:nvSpPr>
        <p:spPr>
          <a:xfrm>
            <a:off x="594360" y="2999232"/>
            <a:ext cx="5486400" cy="1417320"/>
          </a:xfrm>
          <a:prstGeom prst="rect">
            <a:avLst/>
          </a:prstGeom>
          <a:noFill/>
        </p:spPr>
        <p:txBody>
          <a:bodyPr wrap="square" lIns="18288" rIns="18288" tIns="9144" bIns="9144">
            <a:spAutoFit/>
          </a:bodyPr>
          <a:lstStyle/>
          <a:p>
            <a:pPr>
              <a:lnSpc>
                <a:spcPct val="95000"/>
              </a:lnSpc>
              <a:spcBef>
                <a:spcPts val="0"/>
              </a:spcBef>
              <a:spcAft>
                <a:spcPts val="300"/>
              </a:spcAft>
              <a:defRPr sz="1180">
                <a:solidFill>
                  <a:srgbClr val="191919"/>
                </a:solidFill>
                <a:latin typeface="Arial"/>
              </a:defRPr>
            </a:pPr>
            <a:r>
              <a:rPr sz="1420">
                <a:solidFill/>
              </a:rPr>
              <a:t>• Ingestion: ICAR contingency plans + IMD agromet advisories + ENSO literature.</a:t>
            </a:r>
          </a:p>
          <a:p>
            <a:pPr>
              <a:lnSpc>
                <a:spcPct val="95000"/>
              </a:lnSpc>
              <a:spcBef>
                <a:spcPts val="0"/>
              </a:spcBef>
              <a:spcAft>
                <a:spcPts val="300"/>
              </a:spcAft>
              <a:defRPr sz="1180">
                <a:solidFill>
                  <a:srgbClr val="191919"/>
                </a:solidFill>
                <a:latin typeface="Arial"/>
              </a:defRPr>
            </a:pPr>
            <a:r>
              <a:rPr sz="1420">
                <a:solidFill/>
              </a:rPr>
              <a:t>• Preprocessing: semantic chunking, metadata tagging and embeddings.</a:t>
            </a:r>
          </a:p>
          <a:p>
            <a:pPr>
              <a:lnSpc>
                <a:spcPct val="95000"/>
              </a:lnSpc>
              <a:spcBef>
                <a:spcPts val="0"/>
              </a:spcBef>
              <a:spcAft>
                <a:spcPts val="300"/>
              </a:spcAft>
              <a:defRPr sz="1180">
                <a:solidFill>
                  <a:srgbClr val="191919"/>
                </a:solidFill>
                <a:latin typeface="Arial"/>
              </a:defRPr>
            </a:pPr>
            <a:r>
              <a:rPr sz="1420">
                <a:solidFill/>
              </a:rPr>
              <a:t>• Retrieval: district + crop + month + scenario-aware search.</a:t>
            </a:r>
          </a:p>
          <a:p>
            <a:pPr>
              <a:lnSpc>
                <a:spcPct val="95000"/>
              </a:lnSpc>
              <a:spcBef>
                <a:spcPts val="0"/>
              </a:spcBef>
              <a:spcAft>
                <a:spcPts val="300"/>
              </a:spcAft>
              <a:defRPr sz="1180">
                <a:solidFill>
                  <a:srgbClr val="191919"/>
                </a:solidFill>
                <a:latin typeface="Arial"/>
              </a:defRPr>
            </a:pPr>
            <a:r>
              <a:rPr sz="1420">
                <a:solidFill/>
              </a:rPr>
              <a:t>• Generation: local LLM produces Recommendation → Reason → Source.</a:t>
            </a:r>
          </a:p>
        </p:txBody>
      </p:sp>
      <p:sp>
        <p:nvSpPr>
          <p:cNvPr id="10" name="Rounded Rectangle 9"/>
          <p:cNvSpPr/>
          <p:nvPr/>
        </p:nvSpPr>
        <p:spPr>
          <a:xfrm>
            <a:off x="6355080" y="3977639"/>
            <a:ext cx="1874519" cy="658368"/>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23359"/>
            <a:ext cx="1783079" cy="566928"/>
          </a:xfrm>
          <a:prstGeom prst="rect">
            <a:avLst/>
          </a:prstGeom>
          <a:noFill/>
        </p:spPr>
        <p:txBody>
          <a:bodyPr wrap="square" lIns="18288" rIns="18288" tIns="9144" bIns="9144" anchor="ctr">
            <a:spAutoFit/>
          </a:bodyPr>
          <a:lstStyle/>
          <a:p>
            <a:pPr algn="ctr"/>
            <a:r>
              <a:rPr sz="1238" b="1" i="0">
                <a:solidFill>
                  <a:srgbClr val="191919"/>
                </a:solidFill>
                <a:latin typeface="Arial"/>
              </a:rPr>
              <a:t>District / Crop /
Month / Scenario</a:t>
            </a:r>
          </a:p>
        </p:txBody>
      </p:sp>
      <p:sp>
        <p:nvSpPr>
          <p:cNvPr id="12" name="Rounded Rectangle 11"/>
          <p:cNvSpPr/>
          <p:nvPr/>
        </p:nvSpPr>
        <p:spPr>
          <a:xfrm>
            <a:off x="8641080" y="3977639"/>
            <a:ext cx="1737360" cy="658368"/>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4023359"/>
            <a:ext cx="1645919" cy="566928"/>
          </a:xfrm>
          <a:prstGeom prst="rect">
            <a:avLst/>
          </a:prstGeom>
          <a:noFill/>
        </p:spPr>
        <p:txBody>
          <a:bodyPr wrap="square" lIns="18288" rIns="18288" tIns="9144" bIns="9144" anchor="ctr">
            <a:spAutoFit/>
          </a:bodyPr>
          <a:lstStyle/>
          <a:p>
            <a:pPr algn="ctr"/>
            <a:r>
              <a:rPr sz="1238" b="1" i="0">
                <a:solidFill>
                  <a:srgbClr val="191919"/>
                </a:solidFill>
                <a:latin typeface="Arial"/>
              </a:rPr>
              <a:t>Retrieve relevant
chunks</a:t>
            </a:r>
          </a:p>
        </p:txBody>
      </p:sp>
      <p:sp>
        <p:nvSpPr>
          <p:cNvPr id="14" name="Rounded Rectangle 13"/>
          <p:cNvSpPr/>
          <p:nvPr/>
        </p:nvSpPr>
        <p:spPr>
          <a:xfrm>
            <a:off x="10561320" y="3977639"/>
            <a:ext cx="1051560" cy="658368"/>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0" y="4023359"/>
            <a:ext cx="960119" cy="566928"/>
          </a:xfrm>
          <a:prstGeom prst="rect">
            <a:avLst/>
          </a:prstGeom>
          <a:noFill/>
        </p:spPr>
        <p:txBody>
          <a:bodyPr wrap="square" lIns="18288" rIns="18288" tIns="9144" bIns="9144" anchor="ctr">
            <a:spAutoFit/>
          </a:bodyPr>
          <a:lstStyle/>
          <a:p>
            <a:pPr algn="ctr"/>
            <a:r>
              <a:rPr sz="950" b="1" i="0">
                <a:solidFill>
                  <a:srgbClr val="191919"/>
                </a:solidFill>
                <a:latin typeface="Arial"/>
              </a:rPr>
              <a:t>Generate + cite
source</a:t>
            </a:r>
          </a:p>
        </p:txBody>
      </p:sp>
      <p:cxnSp>
        <p:nvCxnSpPr>
          <p:cNvPr id="16" name="Connector 15"/>
          <p:cNvCxnSpPr/>
          <p:nvPr/>
        </p:nvCxnSpPr>
        <p:spPr>
          <a:xfrm>
            <a:off x="8229600" y="4306824"/>
            <a:ext cx="41148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78440" y="4306824"/>
            <a:ext cx="18288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89320" y="4983480"/>
            <a:ext cx="5486400" cy="658368"/>
          </a:xfrm>
          <a:prstGeom prst="rect">
            <a:avLst/>
          </a:prstGeom>
          <a:noFill/>
        </p:spPr>
        <p:txBody>
          <a:bodyPr wrap="square" lIns="18288" rIns="18288" tIns="9144" bIns="9144" anchor="t">
            <a:spAutoFit/>
          </a:bodyPr>
          <a:lstStyle/>
          <a:p>
            <a:pPr algn="ctr"/>
            <a:r>
              <a:rPr sz="1360" b="0" i="0">
                <a:solidFill>
                  <a:srgbClr val="191919"/>
                </a:solidFill>
                <a:latin typeface="Arial"/>
              </a:rPr>
              <a:t>The retrieval layer is the project’s differentiator: the same question can surface different guidance when the climate scenario changes.</a:t>
            </a:r>
          </a:p>
        </p:txBody>
      </p:sp>
      <p:sp>
        <p:nvSpPr>
          <p:cNvPr id="20" name="Rectangle 19"/>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0" name="Picture 39"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47472"/>
          </a:xfrm>
          <a:prstGeom prst="rect">
            <a:avLst/>
          </a:prstGeom>
          <a:noFill/>
        </p:spPr>
        <p:txBody>
          <a:bodyPr wrap="square" lIns="18288" rIns="18288" tIns="9144" bIns="9144" anchor="t">
            <a:spAutoFit/>
          </a:bodyPr>
          <a:lstStyle/>
          <a:p>
            <a:pPr algn="ctr">
              <a:spcBef>
                <a:spcPts val="0"/>
              </a:spcBef>
              <a:spcAft>
                <a:spcPts val="0"/>
              </a:spcAft>
            </a:pPr>
            <a:r>
              <a:rPr sz="2300" b="1" i="0">
                <a:solidFill>
                  <a:srgbClr val="234178"/>
                </a:solidFill>
                <a:latin typeface="Arial"/>
              </a:rPr>
              <a:t>SYSTEM ARCHITECTURE</a:t>
            </a:r>
          </a:p>
        </p:txBody>
      </p:sp>
      <p:sp>
        <p:nvSpPr>
          <p:cNvPr id="5" name="Rounded Rectangle 4"/>
          <p:cNvSpPr/>
          <p:nvPr/>
        </p:nvSpPr>
        <p:spPr>
          <a:xfrm>
            <a:off x="502920" y="2057400"/>
            <a:ext cx="1874519" cy="594360"/>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783079" cy="502920"/>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DATA SOURCES</a:t>
            </a:r>
          </a:p>
        </p:txBody>
      </p:sp>
      <p:sp>
        <p:nvSpPr>
          <p:cNvPr id="7" name="Rounded Rectangle 6"/>
          <p:cNvSpPr/>
          <p:nvPr/>
        </p:nvSpPr>
        <p:spPr>
          <a:xfrm>
            <a:off x="594360" y="2880360"/>
            <a:ext cx="1691640" cy="530352"/>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79"/>
            <a:ext cx="1600200" cy="438912"/>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ICAR Plans</a:t>
            </a:r>
          </a:p>
        </p:txBody>
      </p:sp>
      <p:sp>
        <p:nvSpPr>
          <p:cNvPr id="9" name="Rounded Rectangle 8"/>
          <p:cNvSpPr/>
          <p:nvPr/>
        </p:nvSpPr>
        <p:spPr>
          <a:xfrm>
            <a:off x="594360" y="3657600"/>
            <a:ext cx="1691640" cy="530352"/>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703320"/>
            <a:ext cx="1600200" cy="438912"/>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IMD Advisories</a:t>
            </a:r>
          </a:p>
        </p:txBody>
      </p:sp>
      <p:sp>
        <p:nvSpPr>
          <p:cNvPr id="11" name="Rounded Rectangle 10"/>
          <p:cNvSpPr/>
          <p:nvPr/>
        </p:nvSpPr>
        <p:spPr>
          <a:xfrm>
            <a:off x="594360" y="4434840"/>
            <a:ext cx="1691640" cy="530352"/>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600200" cy="438912"/>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ENSO Literature</a:t>
            </a:r>
          </a:p>
        </p:txBody>
      </p:sp>
      <p:cxnSp>
        <p:nvCxnSpPr>
          <p:cNvPr id="13" name="Connector 12"/>
          <p:cNvCxnSpPr/>
          <p:nvPr/>
        </p:nvCxnSpPr>
        <p:spPr>
          <a:xfrm>
            <a:off x="2286000" y="3145536"/>
            <a:ext cx="457200" cy="374904"/>
          </a:xfrm>
          <a:prstGeom prst="line">
            <a:avLst/>
          </a:prstGeom>
          <a:ln w="15240">
            <a:solidFill>
              <a:srgbClr val="78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286000" y="3520440"/>
            <a:ext cx="457200" cy="402336"/>
          </a:xfrm>
          <a:prstGeom prst="line">
            <a:avLst/>
          </a:prstGeom>
          <a:ln w="15240">
            <a:solidFill>
              <a:srgbClr val="78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286000" y="3520440"/>
            <a:ext cx="457200" cy="1179576"/>
          </a:xfrm>
          <a:prstGeom prst="line">
            <a:avLst/>
          </a:prstGeom>
          <a:ln w="15240">
            <a:solidFill>
              <a:srgbClr val="78787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3200" y="2971800"/>
            <a:ext cx="1965960" cy="1051560"/>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3017520"/>
            <a:ext cx="2103120" cy="960119"/>
          </a:xfrm>
          <a:prstGeom prst="rect">
            <a:avLst/>
          </a:prstGeom>
          <a:noFill/>
        </p:spPr>
        <p:txBody>
          <a:bodyPr wrap="square" lIns="18288" rIns="18288" tIns="9144" bIns="9144" anchor="ctr">
            <a:spAutoFit/>
          </a:bodyPr>
          <a:lstStyle/>
          <a:p>
            <a:pPr algn="l">
              <a:spcBef>
                <a:spcPts val="0"/>
              </a:spcBef>
              <a:spcAft>
                <a:spcPts val="0"/>
              </a:spcAft>
            </a:pPr>
            <a:r>
              <a:rPr sz="1700" b="1" i="0">
                <a:solidFill>
                  <a:srgbClr val="191919"/>
                </a:solidFill>
                <a:latin typeface="Arial"/>
              </a:rPr>
              <a:t>INGESTION +
PREPROCESSING</a:t>
            </a:r>
          </a:p>
        </p:txBody>
      </p:sp>
      <p:sp>
        <p:nvSpPr>
          <p:cNvPr id="18" name="Rounded Rectangle 17"/>
          <p:cNvSpPr/>
          <p:nvPr/>
        </p:nvSpPr>
        <p:spPr>
          <a:xfrm>
            <a:off x="2880360" y="4343400"/>
            <a:ext cx="1691640" cy="960120"/>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79" y="4389120"/>
            <a:ext cx="1600200" cy="868680"/>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Chunking
Metadata
Embeddings</a:t>
            </a:r>
          </a:p>
        </p:txBody>
      </p:sp>
      <p:cxnSp>
        <p:nvCxnSpPr>
          <p:cNvPr id="20" name="Connector 19"/>
          <p:cNvCxnSpPr/>
          <p:nvPr/>
        </p:nvCxnSpPr>
        <p:spPr>
          <a:xfrm>
            <a:off x="3730752" y="4023360"/>
            <a:ext cx="0" cy="320040"/>
          </a:xfrm>
          <a:prstGeom prst="line">
            <a:avLst/>
          </a:prstGeom>
          <a:ln w="22860">
            <a:solidFill>
              <a:srgbClr val="C600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257800" y="3246120"/>
            <a:ext cx="1691640" cy="749808"/>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3291839"/>
            <a:ext cx="1600200" cy="65836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CONTEXT
BUILDER</a:t>
            </a:r>
          </a:p>
        </p:txBody>
      </p:sp>
      <p:sp>
        <p:nvSpPr>
          <p:cNvPr id="23" name="Rounded Rectangle 22"/>
          <p:cNvSpPr/>
          <p:nvPr/>
        </p:nvSpPr>
        <p:spPr>
          <a:xfrm>
            <a:off x="5422392" y="4251960"/>
            <a:ext cx="1371600" cy="1234440"/>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68112" y="4297680"/>
            <a:ext cx="1280160" cy="1143000"/>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District
Crop
Month
Scenario</a:t>
            </a:r>
          </a:p>
        </p:txBody>
      </p:sp>
      <p:cxnSp>
        <p:nvCxnSpPr>
          <p:cNvPr id="25" name="Connector 24"/>
          <p:cNvCxnSpPr/>
          <p:nvPr/>
        </p:nvCxnSpPr>
        <p:spPr>
          <a:xfrm>
            <a:off x="4709160" y="3502152"/>
            <a:ext cx="54864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08192" y="3995928"/>
            <a:ext cx="0" cy="256032"/>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452360" y="3246120"/>
            <a:ext cx="1691640" cy="749808"/>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0" y="3291839"/>
            <a:ext cx="1600200" cy="65836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VECTOR
RETRIEVER</a:t>
            </a:r>
          </a:p>
        </p:txBody>
      </p:sp>
      <p:sp>
        <p:nvSpPr>
          <p:cNvPr id="29" name="Rounded Rectangle 28"/>
          <p:cNvSpPr/>
          <p:nvPr/>
        </p:nvSpPr>
        <p:spPr>
          <a:xfrm>
            <a:off x="7296912" y="4251960"/>
            <a:ext cx="2011680" cy="841248"/>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2" y="4297680"/>
            <a:ext cx="1920240" cy="74980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Scenario-weighted
relevant chunks</a:t>
            </a:r>
          </a:p>
        </p:txBody>
      </p:sp>
      <p:cxnSp>
        <p:nvCxnSpPr>
          <p:cNvPr id="31" name="Connector 30"/>
          <p:cNvCxnSpPr/>
          <p:nvPr/>
        </p:nvCxnSpPr>
        <p:spPr>
          <a:xfrm>
            <a:off x="6949440" y="3621024"/>
            <a:ext cx="50292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02752" y="3995928"/>
            <a:ext cx="0" cy="256032"/>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646920" y="3246120"/>
            <a:ext cx="1874519" cy="749808"/>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3291839"/>
            <a:ext cx="1783079" cy="65836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LOCAL LLM
GENERATOR</a:t>
            </a:r>
          </a:p>
        </p:txBody>
      </p:sp>
      <p:sp>
        <p:nvSpPr>
          <p:cNvPr id="35" name="Rounded Rectangle 34"/>
          <p:cNvSpPr/>
          <p:nvPr/>
        </p:nvSpPr>
        <p:spPr>
          <a:xfrm>
            <a:off x="9555480" y="4251960"/>
            <a:ext cx="2057400" cy="841248"/>
          </a:xfrm>
          <a:prstGeom prst="roundRect">
            <a:avLst/>
          </a:prstGeom>
          <a:solidFill>
            <a:srgbClr val="EBEEF9"/>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0" y="4297680"/>
            <a:ext cx="1965960" cy="74980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Recommendation
Reason
Source</a:t>
            </a:r>
          </a:p>
        </p:txBody>
      </p:sp>
      <p:cxnSp>
        <p:nvCxnSpPr>
          <p:cNvPr id="37" name="Connector 36"/>
          <p:cNvCxnSpPr/>
          <p:nvPr/>
        </p:nvCxnSpPr>
        <p:spPr>
          <a:xfrm>
            <a:off x="9144000" y="3621024"/>
            <a:ext cx="50292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588752" y="3995928"/>
            <a:ext cx="0" cy="256032"/>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14600" y="5715000"/>
            <a:ext cx="7772400" cy="310896"/>
          </a:xfrm>
          <a:prstGeom prst="rect">
            <a:avLst/>
          </a:prstGeom>
          <a:noFill/>
        </p:spPr>
        <p:txBody>
          <a:bodyPr wrap="square" lIns="18288" rIns="18288" tIns="9144" bIns="9144" anchor="t">
            <a:spAutoFit/>
          </a:bodyPr>
          <a:lstStyle/>
          <a:p>
            <a:pPr algn="ctr">
              <a:spcBef>
                <a:spcPts val="0"/>
              </a:spcBef>
              <a:spcAft>
                <a:spcPts val="0"/>
              </a:spcAft>
            </a:pPr>
            <a:r>
              <a:rPr sz="1750" b="1" i="0">
                <a:solidFill>
                  <a:srgbClr val="191919"/>
                </a:solidFill>
                <a:latin typeface="Arial"/>
              </a:rPr>
              <a:t>End-to-end traceability: every generated recommendation is anchored to retrieved source material.</a:t>
            </a:r>
          </a:p>
        </p:txBody>
      </p:sp>
      <p:sp>
        <p:nvSpPr>
          <p:cNvPr id="41" name="Rectangle 40"/>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Picture 16"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47472"/>
          </a:xfrm>
          <a:prstGeom prst="rect">
            <a:avLst/>
          </a:prstGeom>
          <a:noFill/>
        </p:spPr>
        <p:txBody>
          <a:bodyPr wrap="square" lIns="18288" rIns="18288" tIns="9144" bIns="9144" anchor="t">
            <a:spAutoFit/>
          </a:bodyPr>
          <a:lstStyle/>
          <a:p>
            <a:pPr algn="ctr">
              <a:spcBef>
                <a:spcPts val="0"/>
              </a:spcBef>
              <a:spcAft>
                <a:spcPts val="0"/>
              </a:spcAft>
            </a:pPr>
            <a:r>
              <a:rPr sz="2300" b="1" i="0">
                <a:solidFill>
                  <a:srgbClr val="234178"/>
                </a:solidFill>
                <a:latin typeface="Arial"/>
              </a:rPr>
              <a:t>TOOLS, TECHNOLOGIES &amp; RESOURCES</a:t>
            </a:r>
          </a:p>
        </p:txBody>
      </p:sp>
      <p:sp>
        <p:nvSpPr>
          <p:cNvPr id="5" name="TextBox 4"/>
          <p:cNvSpPr txBox="1"/>
          <p:nvPr/>
        </p:nvSpPr>
        <p:spPr>
          <a:xfrm>
            <a:off x="502920" y="1993392"/>
            <a:ext cx="2743200" cy="292608"/>
          </a:xfrm>
          <a:prstGeom prst="rect">
            <a:avLst/>
          </a:prstGeom>
          <a:noFill/>
        </p:spPr>
        <p:txBody>
          <a:bodyPr wrap="square" lIns="18288" rIns="18288" tIns="9144" bIns="9144" anchor="t">
            <a:spAutoFit/>
          </a:bodyPr>
          <a:lstStyle/>
          <a:p>
            <a:pPr algn="l">
              <a:spcBef>
                <a:spcPts val="0"/>
              </a:spcBef>
              <a:spcAft>
                <a:spcPts val="0"/>
              </a:spcAft>
            </a:pPr>
            <a:r>
              <a:rPr sz="1700" b="1" i="0">
                <a:solidFill>
                  <a:srgbClr val="1E1E1E"/>
                </a:solidFill>
                <a:latin typeface="Arial"/>
              </a:rPr>
              <a:t>Software &amp; AI Stack</a:t>
            </a:r>
          </a:p>
        </p:txBody>
      </p:sp>
      <p:sp>
        <p:nvSpPr>
          <p:cNvPr id="6" name="TextBox 5"/>
          <p:cNvSpPr txBox="1"/>
          <p:nvPr/>
        </p:nvSpPr>
        <p:spPr>
          <a:xfrm>
            <a:off x="594360" y="2395728"/>
            <a:ext cx="3749039" cy="1874519"/>
          </a:xfrm>
          <a:prstGeom prst="rect">
            <a:avLst/>
          </a:prstGeom>
          <a:noFill/>
        </p:spPr>
        <p:txBody>
          <a:bodyPr wrap="square" lIns="18288" rIns="18288" tIns="9144" bIns="9144">
            <a:spAutoFit/>
          </a:bodyPr>
          <a:lstStyle/>
          <a:p>
            <a:pPr>
              <a:lnSpc>
                <a:spcPct val="105000"/>
              </a:lnSpc>
              <a:spcBef>
                <a:spcPts val="0"/>
              </a:spcBef>
              <a:spcAft>
                <a:spcPts val="600"/>
              </a:spcAft>
              <a:defRPr sz="1250">
                <a:solidFill>
                  <a:srgbClr val="191919"/>
                </a:solidFill>
                <a:latin typeface="Arial"/>
              </a:defRPr>
            </a:pPr>
            <a:r>
              <a:rPr sz="1650" b="0">
                <a:solidFill>
                  <a:srgbClr val="1E1E1E"/>
                </a:solidFill>
                <a:latin typeface="Arial"/>
              </a:rPr>
              <a:t>• Python — core implementation</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LangChain — retrieval orchestration</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Ollama — local LLM inference</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ChromaDB — vector database</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Streamlit — prototype interface</a:t>
            </a:r>
          </a:p>
        </p:txBody>
      </p:sp>
      <p:sp>
        <p:nvSpPr>
          <p:cNvPr id="7" name="TextBox 6"/>
          <p:cNvSpPr txBox="1"/>
          <p:nvPr/>
        </p:nvSpPr>
        <p:spPr>
          <a:xfrm>
            <a:off x="4343400" y="1993392"/>
            <a:ext cx="2743200" cy="292608"/>
          </a:xfrm>
          <a:prstGeom prst="rect">
            <a:avLst/>
          </a:prstGeom>
          <a:noFill/>
        </p:spPr>
        <p:txBody>
          <a:bodyPr wrap="square" lIns="18288" rIns="18288" tIns="9144" bIns="9144" anchor="t">
            <a:spAutoFit/>
          </a:bodyPr>
          <a:lstStyle/>
          <a:p>
            <a:pPr algn="l">
              <a:spcBef>
                <a:spcPts val="0"/>
              </a:spcBef>
              <a:spcAft>
                <a:spcPts val="0"/>
              </a:spcAft>
            </a:pPr>
            <a:r>
              <a:rPr sz="1700" b="1" i="0">
                <a:solidFill>
                  <a:srgbClr val="1E1E1E"/>
                </a:solidFill>
                <a:latin typeface="Arial"/>
              </a:rPr>
              <a:t>Knowledge Sources</a:t>
            </a:r>
          </a:p>
        </p:txBody>
      </p:sp>
      <p:sp>
        <p:nvSpPr>
          <p:cNvPr id="8" name="TextBox 7"/>
          <p:cNvSpPr txBox="1"/>
          <p:nvPr/>
        </p:nvSpPr>
        <p:spPr>
          <a:xfrm>
            <a:off x="4434840" y="2395728"/>
            <a:ext cx="3246120" cy="1874519"/>
          </a:xfrm>
          <a:prstGeom prst="rect">
            <a:avLst/>
          </a:prstGeom>
          <a:noFill/>
        </p:spPr>
        <p:txBody>
          <a:bodyPr wrap="square" lIns="18288" rIns="18288" tIns="9144" bIns="9144">
            <a:spAutoFit/>
          </a:bodyPr>
          <a:lstStyle/>
          <a:p>
            <a:pPr>
              <a:lnSpc>
                <a:spcPct val="105000"/>
              </a:lnSpc>
              <a:spcBef>
                <a:spcPts val="0"/>
              </a:spcBef>
              <a:spcAft>
                <a:spcPts val="600"/>
              </a:spcAft>
              <a:defRPr sz="1250">
                <a:solidFill>
                  <a:srgbClr val="191919"/>
                </a:solidFill>
                <a:latin typeface="Arial"/>
              </a:defRPr>
            </a:pPr>
            <a:r>
              <a:rPr sz="1650" b="0">
                <a:solidFill>
                  <a:srgbClr val="1E1E1E"/>
                </a:solidFill>
                <a:latin typeface="Arial"/>
              </a:rPr>
              <a:t>• ICAR district contingency plans</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IMD Agromet Advisory Bulletins</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NOAA ONI / ENSO classification</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Peer-reviewed ENSO–India literature</a:t>
            </a:r>
          </a:p>
        </p:txBody>
      </p:sp>
      <p:sp>
        <p:nvSpPr>
          <p:cNvPr id="9" name="TextBox 8"/>
          <p:cNvSpPr txBox="1"/>
          <p:nvPr/>
        </p:nvSpPr>
        <p:spPr>
          <a:xfrm>
            <a:off x="7635240" y="1993392"/>
            <a:ext cx="3108960" cy="292608"/>
          </a:xfrm>
          <a:prstGeom prst="rect">
            <a:avLst/>
          </a:prstGeom>
          <a:noFill/>
        </p:spPr>
        <p:txBody>
          <a:bodyPr wrap="square" lIns="18288" rIns="18288" tIns="9144" bIns="9144" anchor="t">
            <a:spAutoFit/>
          </a:bodyPr>
          <a:lstStyle/>
          <a:p>
            <a:pPr algn="l">
              <a:spcBef>
                <a:spcPts val="0"/>
              </a:spcBef>
              <a:spcAft>
                <a:spcPts val="0"/>
              </a:spcAft>
            </a:pPr>
            <a:r>
              <a:rPr sz="1700" b="1" i="0">
                <a:solidFill>
                  <a:srgbClr val="1E1E1E"/>
                </a:solidFill>
                <a:latin typeface="Arial"/>
              </a:rPr>
              <a:t>Representative Districts</a:t>
            </a:r>
          </a:p>
        </p:txBody>
      </p:sp>
      <p:sp>
        <p:nvSpPr>
          <p:cNvPr id="10" name="TextBox 9"/>
          <p:cNvSpPr txBox="1"/>
          <p:nvPr/>
        </p:nvSpPr>
        <p:spPr>
          <a:xfrm>
            <a:off x="7726679" y="2395728"/>
            <a:ext cx="2743200" cy="1874519"/>
          </a:xfrm>
          <a:prstGeom prst="rect">
            <a:avLst/>
          </a:prstGeom>
          <a:noFill/>
        </p:spPr>
        <p:txBody>
          <a:bodyPr wrap="square" lIns="18288" rIns="18288" tIns="9144" bIns="9144">
            <a:spAutoFit/>
          </a:bodyPr>
          <a:lstStyle/>
          <a:p>
            <a:pPr>
              <a:lnSpc>
                <a:spcPct val="105000"/>
              </a:lnSpc>
              <a:spcBef>
                <a:spcPts val="0"/>
              </a:spcBef>
              <a:spcAft>
                <a:spcPts val="600"/>
              </a:spcAft>
              <a:defRPr sz="1300">
                <a:solidFill>
                  <a:srgbClr val="191919"/>
                </a:solidFill>
                <a:latin typeface="Arial"/>
              </a:defRPr>
            </a:pPr>
            <a:r>
              <a:rPr sz="1650" b="0">
                <a:solidFill>
                  <a:srgbClr val="1E1E1E"/>
                </a:solidFill>
                <a:latin typeface="Arial"/>
              </a:rPr>
              <a:t>• Latur</a:t>
            </a:r>
          </a:p>
          <a:p>
            <a:pPr>
              <a:lnSpc>
                <a:spcPct val="105000"/>
              </a:lnSpc>
              <a:spcBef>
                <a:spcPts val="0"/>
              </a:spcBef>
              <a:spcAft>
                <a:spcPts val="600"/>
              </a:spcAft>
              <a:defRPr sz="1300">
                <a:solidFill>
                  <a:srgbClr val="191919"/>
                </a:solidFill>
                <a:latin typeface="Arial"/>
              </a:defRPr>
            </a:pPr>
            <a:r>
              <a:rPr sz="1650" b="0">
                <a:solidFill>
                  <a:srgbClr val="1E1E1E"/>
                </a:solidFill>
                <a:latin typeface="Arial"/>
              </a:rPr>
              <a:t>• Beed</a:t>
            </a:r>
          </a:p>
          <a:p>
            <a:pPr>
              <a:lnSpc>
                <a:spcPct val="105000"/>
              </a:lnSpc>
              <a:spcBef>
                <a:spcPts val="0"/>
              </a:spcBef>
              <a:spcAft>
                <a:spcPts val="600"/>
              </a:spcAft>
              <a:defRPr sz="1300">
                <a:solidFill>
                  <a:srgbClr val="191919"/>
                </a:solidFill>
                <a:latin typeface="Arial"/>
              </a:defRPr>
            </a:pPr>
            <a:r>
              <a:rPr sz="1650" b="0">
                <a:solidFill>
                  <a:srgbClr val="1E1E1E"/>
                </a:solidFill>
                <a:latin typeface="Arial"/>
              </a:rPr>
              <a:t>• Yavatmal</a:t>
            </a:r>
          </a:p>
          <a:p>
            <a:pPr>
              <a:lnSpc>
                <a:spcPct val="105000"/>
              </a:lnSpc>
              <a:spcBef>
                <a:spcPts val="0"/>
              </a:spcBef>
              <a:spcAft>
                <a:spcPts val="600"/>
              </a:spcAft>
              <a:defRPr sz="1300">
                <a:solidFill>
                  <a:srgbClr val="191919"/>
                </a:solidFill>
                <a:latin typeface="Arial"/>
              </a:defRPr>
            </a:pPr>
            <a:r>
              <a:rPr sz="1650" b="0">
                <a:solidFill>
                  <a:srgbClr val="1E1E1E"/>
                </a:solidFill>
                <a:latin typeface="Arial"/>
              </a:rPr>
              <a:t>• Amravati</a:t>
            </a:r>
          </a:p>
        </p:txBody>
      </p:sp>
      <p:sp>
        <p:nvSpPr>
          <p:cNvPr id="18" name="Rectangle 17"/>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0" name="Picture 29"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10896"/>
          </a:xfrm>
          <a:prstGeom prst="rect">
            <a:avLst/>
          </a:prstGeom>
          <a:noFill/>
        </p:spPr>
        <p:txBody>
          <a:bodyPr wrap="square" lIns="18288" rIns="18288" tIns="9144" bIns="9144" anchor="t">
            <a:spAutoFit/>
          </a:bodyPr>
          <a:lstStyle/>
          <a:p>
            <a:pPr algn="ctr">
              <a:spcBef>
                <a:spcPts val="0"/>
              </a:spcBef>
              <a:spcAft>
                <a:spcPts val="0"/>
              </a:spcAft>
            </a:pPr>
            <a:r>
              <a:rPr sz="1850" b="1" i="0">
                <a:solidFill>
                  <a:srgbClr val="234178"/>
                </a:solidFill>
                <a:latin typeface="Arial"/>
              </a:rPr>
              <a:t>WORK COMPLETED SO FAR</a:t>
            </a:r>
          </a:p>
        </p:txBody>
      </p:sp>
      <p:sp>
        <p:nvSpPr>
          <p:cNvPr id="5" name="TextBox 4"/>
          <p:cNvSpPr txBox="1"/>
          <p:nvPr/>
        </p:nvSpPr>
        <p:spPr>
          <a:xfrm>
            <a:off x="502920" y="2148840"/>
            <a:ext cx="2560320" cy="292608"/>
          </a:xfrm>
          <a:prstGeom prst="rect">
            <a:avLst/>
          </a:prstGeom>
          <a:noFill/>
        </p:spPr>
        <p:txBody>
          <a:bodyPr wrap="square" lIns="18288" rIns="18288" tIns="9144" bIns="9144" anchor="t">
            <a:spAutoFit/>
          </a:bodyPr>
          <a:lstStyle/>
          <a:p>
            <a:pPr algn="l">
              <a:spcBef>
                <a:spcPts val="0"/>
              </a:spcBef>
              <a:spcAft>
                <a:spcPts val="0"/>
              </a:spcAft>
            </a:pPr>
            <a:r>
              <a:rPr sz="1500" b="1" i="0">
                <a:solidFill>
                  <a:srgbClr val="191919"/>
                </a:solidFill>
                <a:latin typeface="Arial"/>
              </a:rPr>
              <a:t>Scope &amp; Data</a:t>
            </a:r>
          </a:p>
        </p:txBody>
      </p:sp>
      <p:sp>
        <p:nvSpPr>
          <p:cNvPr id="6" name="TextBox 5"/>
          <p:cNvSpPr txBox="1"/>
          <p:nvPr/>
        </p:nvSpPr>
        <p:spPr>
          <a:xfrm>
            <a:off x="594360" y="2487168"/>
            <a:ext cx="5120640" cy="777240"/>
          </a:xfrm>
          <a:prstGeom prst="rect">
            <a:avLst/>
          </a:prstGeom>
          <a:noFill/>
        </p:spPr>
        <p:txBody>
          <a:bodyPr wrap="square" lIns="18288" rIns="18288" tIns="9144" bIns="9144">
            <a:spAutoFit/>
          </a:bodyPr>
          <a:lstStyle/>
          <a:p>
            <a:pPr>
              <a:spcBef>
                <a:spcPts val="0"/>
              </a:spcBef>
              <a:spcAft>
                <a:spcPts val="0"/>
              </a:spcAft>
              <a:defRPr sz="1240">
                <a:solidFill>
                  <a:srgbClr val="191919"/>
                </a:solidFill>
                <a:latin typeface="Arial"/>
              </a:defRPr>
            </a:pPr>
            <a:r>
              <a:rPr>
                <a:solidFill/>
              </a:rPr>
              <a:t>• Finalized problem scope, primary users, inputs and outputs.</a:t>
            </a:r>
          </a:p>
          <a:p>
            <a:pPr>
              <a:spcBef>
                <a:spcPts val="0"/>
              </a:spcBef>
              <a:spcAft>
                <a:spcPts val="0"/>
              </a:spcAft>
              <a:defRPr sz="1240">
                <a:solidFill>
                  <a:srgbClr val="191919"/>
                </a:solidFill>
                <a:latin typeface="Arial"/>
              </a:defRPr>
            </a:pPr>
            <a:r>
              <a:rPr>
                <a:solidFill/>
              </a:rPr>
              <a:t>• Selected four representative Maharashtra districts.</a:t>
            </a:r>
          </a:p>
          <a:p>
            <a:pPr>
              <a:spcBef>
                <a:spcPts val="0"/>
              </a:spcBef>
              <a:spcAft>
                <a:spcPts val="0"/>
              </a:spcAft>
              <a:defRPr sz="1240">
                <a:solidFill>
                  <a:srgbClr val="191919"/>
                </a:solidFill>
                <a:latin typeface="Arial"/>
              </a:defRPr>
            </a:pPr>
            <a:r>
              <a:rPr>
                <a:solidFill/>
              </a:rPr>
              <a:t>• Collected ICAR contingency plans and IMD advisory material.</a:t>
            </a:r>
          </a:p>
        </p:txBody>
      </p:sp>
      <p:sp>
        <p:nvSpPr>
          <p:cNvPr id="7" name="TextBox 6"/>
          <p:cNvSpPr txBox="1"/>
          <p:nvPr/>
        </p:nvSpPr>
        <p:spPr>
          <a:xfrm>
            <a:off x="502920" y="3767328"/>
            <a:ext cx="2560320" cy="292608"/>
          </a:xfrm>
          <a:prstGeom prst="rect">
            <a:avLst/>
          </a:prstGeom>
          <a:noFill/>
        </p:spPr>
        <p:txBody>
          <a:bodyPr wrap="square" lIns="18288" rIns="18288" tIns="9144" bIns="9144" anchor="t">
            <a:spAutoFit/>
          </a:bodyPr>
          <a:lstStyle/>
          <a:p>
            <a:pPr algn="l">
              <a:spcBef>
                <a:spcPts val="0"/>
              </a:spcBef>
              <a:spcAft>
                <a:spcPts val="0"/>
              </a:spcAft>
            </a:pPr>
            <a:r>
              <a:rPr sz="1500" b="1" i="0">
                <a:solidFill>
                  <a:srgbClr val="191919"/>
                </a:solidFill>
                <a:latin typeface="Arial"/>
              </a:rPr>
              <a:t>Research &amp; Design</a:t>
            </a:r>
          </a:p>
        </p:txBody>
      </p:sp>
      <p:sp>
        <p:nvSpPr>
          <p:cNvPr id="8" name="TextBox 7"/>
          <p:cNvSpPr txBox="1"/>
          <p:nvPr/>
        </p:nvSpPr>
        <p:spPr>
          <a:xfrm>
            <a:off x="594360" y="4096512"/>
            <a:ext cx="5120640" cy="868680"/>
          </a:xfrm>
          <a:prstGeom prst="rect">
            <a:avLst/>
          </a:prstGeom>
          <a:noFill/>
        </p:spPr>
        <p:txBody>
          <a:bodyPr wrap="square" lIns="18288" rIns="18288" tIns="9144" bIns="9144">
            <a:spAutoFit/>
          </a:bodyPr>
          <a:lstStyle/>
          <a:p>
            <a:pPr>
              <a:spcBef>
                <a:spcPts val="0"/>
              </a:spcBef>
              <a:spcAft>
                <a:spcPts val="0"/>
              </a:spcAft>
              <a:defRPr sz="1240">
                <a:solidFill>
                  <a:srgbClr val="191919"/>
                </a:solidFill>
                <a:latin typeface="Arial"/>
              </a:defRPr>
            </a:pPr>
            <a:r>
              <a:rPr>
                <a:solidFill/>
              </a:rPr>
              <a:t>• Built the requirements / knowledge-source matrix.</a:t>
            </a:r>
          </a:p>
          <a:p>
            <a:pPr>
              <a:spcBef>
                <a:spcPts val="0"/>
              </a:spcBef>
              <a:spcAft>
                <a:spcPts val="0"/>
              </a:spcAft>
              <a:defRPr sz="1240">
                <a:solidFill>
                  <a:srgbClr val="191919"/>
                </a:solidFill>
                <a:latin typeface="Arial"/>
              </a:defRPr>
            </a:pPr>
            <a:r>
              <a:rPr>
                <a:solidFill/>
              </a:rPr>
              <a:t>• Reviewed ENSO–monsoon and agricultural-impact literature.</a:t>
            </a:r>
          </a:p>
          <a:p>
            <a:pPr>
              <a:spcBef>
                <a:spcPts val="0"/>
              </a:spcBef>
              <a:spcAft>
                <a:spcPts val="0"/>
              </a:spcAft>
              <a:defRPr sz="1240">
                <a:solidFill>
                  <a:srgbClr val="191919"/>
                </a:solidFill>
                <a:latin typeface="Arial"/>
              </a:defRPr>
            </a:pPr>
            <a:r>
              <a:rPr>
                <a:solidFill/>
              </a:rPr>
              <a:t>• Defined scenario-aware retrieval and traceable output format.</a:t>
            </a:r>
          </a:p>
        </p:txBody>
      </p:sp>
      <p:sp>
        <p:nvSpPr>
          <p:cNvPr id="9" name="TextBox 8"/>
          <p:cNvSpPr txBox="1"/>
          <p:nvPr/>
        </p:nvSpPr>
        <p:spPr>
          <a:xfrm>
            <a:off x="6400800" y="2148840"/>
            <a:ext cx="2743200" cy="292608"/>
          </a:xfrm>
          <a:prstGeom prst="rect">
            <a:avLst/>
          </a:prstGeom>
          <a:noFill/>
        </p:spPr>
        <p:txBody>
          <a:bodyPr wrap="square" lIns="18288" rIns="18288" tIns="9144" bIns="9144" anchor="t">
            <a:spAutoFit/>
          </a:bodyPr>
          <a:lstStyle/>
          <a:p>
            <a:pPr algn="l">
              <a:spcBef>
                <a:spcPts val="0"/>
              </a:spcBef>
              <a:spcAft>
                <a:spcPts val="0"/>
              </a:spcAft>
            </a:pPr>
            <a:r>
              <a:rPr sz="1500" b="1" i="0">
                <a:solidFill>
                  <a:srgbClr val="1F3A6F"/>
                </a:solidFill>
                <a:latin typeface="Arial"/>
              </a:rPr>
              <a:t>PROJECT STATUS</a:t>
            </a:r>
          </a:p>
        </p:txBody>
      </p:sp>
      <p:sp>
        <p:nvSpPr>
          <p:cNvPr id="10" name="Rounded Rectangle 9"/>
          <p:cNvSpPr/>
          <p:nvPr/>
        </p:nvSpPr>
        <p:spPr>
          <a:xfrm>
            <a:off x="6446520" y="2148840"/>
            <a:ext cx="1874519" cy="512064"/>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94560"/>
            <a:ext cx="1783079" cy="420624"/>
          </a:xfrm>
          <a:prstGeom prst="rect">
            <a:avLst/>
          </a:prstGeom>
          <a:noFill/>
        </p:spPr>
        <p:txBody>
          <a:bodyPr wrap="square" lIns="18288" rIns="18288" tIns="9144" bIns="9144" anchor="ctr">
            <a:spAutoFit/>
          </a:bodyPr>
          <a:lstStyle/>
          <a:p>
            <a:pPr algn="ctr">
              <a:spcBef>
                <a:spcPts val="0"/>
              </a:spcBef>
              <a:spcAft>
                <a:spcPts val="0"/>
              </a:spcAft>
            </a:pPr>
            <a:r>
              <a:rPr sz="1480" b="1" i="0">
                <a:solidFill>
                  <a:srgbClr val="191919"/>
                </a:solidFill>
                <a:latin typeface="Arial"/>
              </a:rPr>
              <a:t>Scope</a:t>
            </a:r>
          </a:p>
        </p:txBody>
      </p:sp>
      <p:sp>
        <p:nvSpPr>
          <p:cNvPr id="12" name="TextBox 11"/>
          <p:cNvSpPr txBox="1"/>
          <p:nvPr/>
        </p:nvSpPr>
        <p:spPr>
          <a:xfrm>
            <a:off x="8549640" y="2258568"/>
            <a:ext cx="1097280" cy="228600"/>
          </a:xfrm>
          <a:prstGeom prst="rect">
            <a:avLst/>
          </a:prstGeom>
          <a:noFill/>
        </p:spPr>
        <p:txBody>
          <a:bodyPr wrap="square" lIns="18288" rIns="18288" tIns="9144" bIns="9144" anchor="t">
            <a:spAutoFit/>
          </a:bodyPr>
          <a:lstStyle/>
          <a:p>
            <a:pPr algn="l">
              <a:spcBef>
                <a:spcPts val="0"/>
              </a:spcBef>
              <a:spcAft>
                <a:spcPts val="0"/>
              </a:spcAft>
            </a:pPr>
            <a:r>
              <a:rPr sz="1480" b="1" i="0">
                <a:solidFill>
                  <a:srgbClr val="1F3A6F"/>
                </a:solidFill>
                <a:latin typeface="Arial"/>
              </a:rPr>
              <a:t>DONE</a:t>
            </a:r>
          </a:p>
        </p:txBody>
      </p:sp>
      <p:cxnSp>
        <p:nvCxnSpPr>
          <p:cNvPr id="13" name="Connector 12"/>
          <p:cNvCxnSpPr/>
          <p:nvPr/>
        </p:nvCxnSpPr>
        <p:spPr>
          <a:xfrm>
            <a:off x="7379208" y="2660904"/>
            <a:ext cx="0" cy="201168"/>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46520" y="2862072"/>
            <a:ext cx="1874519" cy="512064"/>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907791"/>
            <a:ext cx="1783079" cy="420624"/>
          </a:xfrm>
          <a:prstGeom prst="rect">
            <a:avLst/>
          </a:prstGeom>
          <a:noFill/>
        </p:spPr>
        <p:txBody>
          <a:bodyPr wrap="square" lIns="18288" rIns="18288" tIns="9144" bIns="9144" anchor="ctr">
            <a:spAutoFit/>
          </a:bodyPr>
          <a:lstStyle/>
          <a:p>
            <a:pPr algn="ctr">
              <a:spcBef>
                <a:spcPts val="0"/>
              </a:spcBef>
              <a:spcAft>
                <a:spcPts val="0"/>
              </a:spcAft>
            </a:pPr>
            <a:r>
              <a:rPr sz="1480" b="1" i="0">
                <a:solidFill>
                  <a:srgbClr val="191919"/>
                </a:solidFill>
                <a:latin typeface="Arial"/>
              </a:rPr>
              <a:t>Data Collection</a:t>
            </a:r>
          </a:p>
        </p:txBody>
      </p:sp>
      <p:sp>
        <p:nvSpPr>
          <p:cNvPr id="16" name="TextBox 15"/>
          <p:cNvSpPr txBox="1"/>
          <p:nvPr/>
        </p:nvSpPr>
        <p:spPr>
          <a:xfrm>
            <a:off x="8549640" y="2971800"/>
            <a:ext cx="1097280" cy="228600"/>
          </a:xfrm>
          <a:prstGeom prst="rect">
            <a:avLst/>
          </a:prstGeom>
          <a:noFill/>
        </p:spPr>
        <p:txBody>
          <a:bodyPr wrap="square" lIns="18288" rIns="18288" tIns="9144" bIns="9144" anchor="t">
            <a:spAutoFit/>
          </a:bodyPr>
          <a:lstStyle/>
          <a:p>
            <a:pPr algn="l">
              <a:spcBef>
                <a:spcPts val="0"/>
              </a:spcBef>
              <a:spcAft>
                <a:spcPts val="0"/>
              </a:spcAft>
            </a:pPr>
            <a:r>
              <a:rPr sz="1480" b="1" i="0">
                <a:solidFill>
                  <a:srgbClr val="1F3A6F"/>
                </a:solidFill>
                <a:latin typeface="Arial"/>
              </a:rPr>
              <a:t>DONE</a:t>
            </a:r>
          </a:p>
        </p:txBody>
      </p:sp>
      <p:cxnSp>
        <p:nvCxnSpPr>
          <p:cNvPr id="17" name="Connector 16"/>
          <p:cNvCxnSpPr/>
          <p:nvPr/>
        </p:nvCxnSpPr>
        <p:spPr>
          <a:xfrm>
            <a:off x="7379208" y="3374136"/>
            <a:ext cx="0" cy="201168"/>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46520" y="3575304"/>
            <a:ext cx="1874519" cy="512064"/>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621024"/>
            <a:ext cx="1783079" cy="420624"/>
          </a:xfrm>
          <a:prstGeom prst="rect">
            <a:avLst/>
          </a:prstGeom>
          <a:noFill/>
        </p:spPr>
        <p:txBody>
          <a:bodyPr wrap="square" lIns="18288" rIns="18288" tIns="9144" bIns="9144" anchor="ctr">
            <a:spAutoFit/>
          </a:bodyPr>
          <a:lstStyle/>
          <a:p>
            <a:pPr algn="ctr">
              <a:spcBef>
                <a:spcPts val="0"/>
              </a:spcBef>
              <a:spcAft>
                <a:spcPts val="0"/>
              </a:spcAft>
            </a:pPr>
            <a:r>
              <a:rPr sz="1480" b="1" i="0">
                <a:solidFill>
                  <a:srgbClr val="191919"/>
                </a:solidFill>
                <a:latin typeface="Arial"/>
              </a:rPr>
              <a:t>Architecture</a:t>
            </a:r>
          </a:p>
        </p:txBody>
      </p:sp>
      <p:sp>
        <p:nvSpPr>
          <p:cNvPr id="20" name="TextBox 19"/>
          <p:cNvSpPr txBox="1"/>
          <p:nvPr/>
        </p:nvSpPr>
        <p:spPr>
          <a:xfrm>
            <a:off x="8549640" y="3685032"/>
            <a:ext cx="1097280" cy="228600"/>
          </a:xfrm>
          <a:prstGeom prst="rect">
            <a:avLst/>
          </a:prstGeom>
          <a:noFill/>
        </p:spPr>
        <p:txBody>
          <a:bodyPr wrap="square" lIns="18288" rIns="18288" tIns="9144" bIns="9144" anchor="t">
            <a:spAutoFit/>
          </a:bodyPr>
          <a:lstStyle/>
          <a:p>
            <a:pPr algn="l">
              <a:spcBef>
                <a:spcPts val="0"/>
              </a:spcBef>
              <a:spcAft>
                <a:spcPts val="0"/>
              </a:spcAft>
            </a:pPr>
            <a:r>
              <a:rPr sz="1480" b="1" i="0">
                <a:solidFill>
                  <a:srgbClr val="1F3A6F"/>
                </a:solidFill>
                <a:latin typeface="Arial"/>
              </a:rPr>
              <a:t>DONE</a:t>
            </a:r>
          </a:p>
        </p:txBody>
      </p:sp>
      <p:cxnSp>
        <p:nvCxnSpPr>
          <p:cNvPr id="21" name="Connector 20"/>
          <p:cNvCxnSpPr/>
          <p:nvPr/>
        </p:nvCxnSpPr>
        <p:spPr>
          <a:xfrm>
            <a:off x="7379208" y="4087368"/>
            <a:ext cx="0" cy="201168"/>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446520" y="4288536"/>
            <a:ext cx="1874519" cy="512064"/>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334256"/>
            <a:ext cx="1783079" cy="420624"/>
          </a:xfrm>
          <a:prstGeom prst="rect">
            <a:avLst/>
          </a:prstGeom>
          <a:noFill/>
        </p:spPr>
        <p:txBody>
          <a:bodyPr wrap="square" lIns="18288" rIns="18288" tIns="9144" bIns="9144" anchor="ctr">
            <a:spAutoFit/>
          </a:bodyPr>
          <a:lstStyle/>
          <a:p>
            <a:pPr algn="ctr">
              <a:spcBef>
                <a:spcPts val="0"/>
              </a:spcBef>
              <a:spcAft>
                <a:spcPts val="0"/>
              </a:spcAft>
            </a:pPr>
            <a:r>
              <a:rPr sz="1480" b="1" i="0">
                <a:solidFill>
                  <a:srgbClr val="191919"/>
                </a:solidFill>
                <a:latin typeface="Arial"/>
              </a:rPr>
              <a:t>Core RAG</a:t>
            </a:r>
          </a:p>
        </p:txBody>
      </p:sp>
      <p:sp>
        <p:nvSpPr>
          <p:cNvPr id="24" name="TextBox 23"/>
          <p:cNvSpPr txBox="1"/>
          <p:nvPr/>
        </p:nvSpPr>
        <p:spPr>
          <a:xfrm>
            <a:off x="8549640" y="4398264"/>
            <a:ext cx="1097280" cy="228600"/>
          </a:xfrm>
          <a:prstGeom prst="rect">
            <a:avLst/>
          </a:prstGeom>
          <a:noFill/>
        </p:spPr>
        <p:txBody>
          <a:bodyPr wrap="square" lIns="18288" rIns="18288" tIns="9144" bIns="9144" anchor="t">
            <a:spAutoFit/>
          </a:bodyPr>
          <a:lstStyle/>
          <a:p>
            <a:pPr algn="l">
              <a:spcBef>
                <a:spcPts val="0"/>
              </a:spcBef>
              <a:spcAft>
                <a:spcPts val="0"/>
              </a:spcAft>
            </a:pPr>
            <a:r>
              <a:rPr sz="1480" b="1" i="0">
                <a:solidFill>
                  <a:srgbClr val="C60000"/>
                </a:solidFill>
                <a:latin typeface="Arial"/>
              </a:rPr>
              <a:t>NEXT</a:t>
            </a:r>
          </a:p>
        </p:txBody>
      </p:sp>
      <p:cxnSp>
        <p:nvCxnSpPr>
          <p:cNvPr id="25" name="Connector 24"/>
          <p:cNvCxnSpPr/>
          <p:nvPr/>
        </p:nvCxnSpPr>
        <p:spPr>
          <a:xfrm>
            <a:off x="7379208" y="4800600"/>
            <a:ext cx="0" cy="201168"/>
          </a:xfrm>
          <a:prstGeom prst="line">
            <a:avLst/>
          </a:prstGeom>
          <a:ln w="16510">
            <a:solidFill>
              <a:srgbClr val="78787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46520" y="5001768"/>
            <a:ext cx="1874519" cy="512064"/>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047488"/>
            <a:ext cx="1783079" cy="420624"/>
          </a:xfrm>
          <a:prstGeom prst="rect">
            <a:avLst/>
          </a:prstGeom>
          <a:noFill/>
        </p:spPr>
        <p:txBody>
          <a:bodyPr wrap="square" lIns="18288" rIns="18288" tIns="9144" bIns="9144" anchor="ctr">
            <a:spAutoFit/>
          </a:bodyPr>
          <a:lstStyle/>
          <a:p>
            <a:pPr algn="ctr">
              <a:spcBef>
                <a:spcPts val="0"/>
              </a:spcBef>
              <a:spcAft>
                <a:spcPts val="0"/>
              </a:spcAft>
            </a:pPr>
            <a:r>
              <a:rPr sz="1480" b="1" i="0">
                <a:solidFill>
                  <a:srgbClr val="191919"/>
                </a:solidFill>
                <a:latin typeface="Arial"/>
              </a:rPr>
              <a:t>Evaluation</a:t>
            </a:r>
          </a:p>
        </p:txBody>
      </p:sp>
      <p:sp>
        <p:nvSpPr>
          <p:cNvPr id="28" name="TextBox 27"/>
          <p:cNvSpPr txBox="1"/>
          <p:nvPr/>
        </p:nvSpPr>
        <p:spPr>
          <a:xfrm>
            <a:off x="8549640" y="5111496"/>
            <a:ext cx="1097280" cy="228600"/>
          </a:xfrm>
          <a:prstGeom prst="rect">
            <a:avLst/>
          </a:prstGeom>
          <a:noFill/>
        </p:spPr>
        <p:txBody>
          <a:bodyPr wrap="square" lIns="18288" rIns="18288" tIns="9144" bIns="9144" anchor="t">
            <a:spAutoFit/>
          </a:bodyPr>
          <a:lstStyle/>
          <a:p>
            <a:pPr algn="l">
              <a:spcBef>
                <a:spcPts val="0"/>
              </a:spcBef>
              <a:spcAft>
                <a:spcPts val="0"/>
              </a:spcAft>
            </a:pPr>
            <a:r>
              <a:rPr sz="1480" b="1" i="0">
                <a:solidFill>
                  <a:srgbClr val="C60000"/>
                </a:solidFill>
                <a:latin typeface="Arial"/>
              </a:rPr>
              <a:t>NEXT</a:t>
            </a:r>
          </a:p>
        </p:txBody>
      </p:sp>
      <p:sp>
        <p:nvSpPr>
          <p:cNvPr id="29" name="TextBox 28"/>
          <p:cNvSpPr txBox="1"/>
          <p:nvPr/>
        </p:nvSpPr>
        <p:spPr>
          <a:xfrm>
            <a:off x="6400800" y="5623560"/>
            <a:ext cx="4572000" cy="475488"/>
          </a:xfrm>
          <a:prstGeom prst="rect">
            <a:avLst/>
          </a:prstGeom>
          <a:noFill/>
        </p:spPr>
        <p:txBody>
          <a:bodyPr wrap="square" lIns="18288" rIns="18288" tIns="9144" bIns="9144" anchor="t">
            <a:spAutoFit/>
          </a:bodyPr>
          <a:lstStyle/>
          <a:p>
            <a:pPr algn="ctr">
              <a:spcBef>
                <a:spcPts val="0"/>
              </a:spcBef>
              <a:spcAft>
                <a:spcPts val="0"/>
              </a:spcAft>
            </a:pPr>
            <a:r>
              <a:rPr sz="1480" b="0" i="0">
                <a:solidFill>
                  <a:srgbClr val="191919"/>
                </a:solidFill>
                <a:latin typeface="Arial"/>
              </a:rPr>
              <a:t>Current emphasis → implement the retrieval layer, connect the UI, and evaluate grounding against a plain LLM baseline.</a:t>
            </a:r>
          </a:p>
        </p:txBody>
      </p:sp>
      <p:sp>
        <p:nvSpPr>
          <p:cNvPr id="31" name="Rectangle 30"/>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4" name="Picture 23"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47472"/>
          </a:xfrm>
          <a:prstGeom prst="rect">
            <a:avLst/>
          </a:prstGeom>
          <a:noFill/>
        </p:spPr>
        <p:txBody>
          <a:bodyPr wrap="square" lIns="18288" rIns="18288" tIns="9144" bIns="9144" anchor="t">
            <a:spAutoFit/>
          </a:bodyPr>
          <a:lstStyle/>
          <a:p>
            <a:pPr algn="ctr">
              <a:spcBef>
                <a:spcPts val="0"/>
              </a:spcBef>
              <a:spcAft>
                <a:spcPts val="0"/>
              </a:spcAft>
            </a:pPr>
            <a:r>
              <a:rPr sz="2300" b="1" i="0">
                <a:solidFill>
                  <a:srgbClr val="234178"/>
                </a:solidFill>
                <a:latin typeface="Arial"/>
              </a:rPr>
              <a:t>FINAL / EXPECTED OUTCOMES</a:t>
            </a:r>
          </a:p>
        </p:txBody>
      </p:sp>
      <p:sp>
        <p:nvSpPr>
          <p:cNvPr id="5" name="TextBox 4"/>
          <p:cNvSpPr txBox="1"/>
          <p:nvPr/>
        </p:nvSpPr>
        <p:spPr>
          <a:xfrm>
            <a:off x="502920" y="1938528"/>
            <a:ext cx="2743200" cy="292608"/>
          </a:xfrm>
          <a:prstGeom prst="rect">
            <a:avLst/>
          </a:prstGeom>
          <a:noFill/>
        </p:spPr>
        <p:txBody>
          <a:bodyPr wrap="square" lIns="18288" rIns="18288" tIns="9144" bIns="9144" anchor="t">
            <a:spAutoFit/>
          </a:bodyPr>
          <a:lstStyle/>
          <a:p>
            <a:pPr algn="l">
              <a:spcBef>
                <a:spcPts val="0"/>
              </a:spcBef>
              <a:spcAft>
                <a:spcPts val="0"/>
              </a:spcAft>
            </a:pPr>
            <a:r>
              <a:rPr sz="1600" b="1" i="0">
                <a:solidFill>
                  <a:srgbClr val="1E1E1E"/>
                </a:solidFill>
                <a:latin typeface="Arial"/>
              </a:rPr>
              <a:t>Working Prototype</a:t>
            </a:r>
          </a:p>
        </p:txBody>
      </p:sp>
      <p:sp>
        <p:nvSpPr>
          <p:cNvPr id="6" name="TextBox 5"/>
          <p:cNvSpPr txBox="1"/>
          <p:nvPr/>
        </p:nvSpPr>
        <p:spPr>
          <a:xfrm>
            <a:off x="594360" y="2258568"/>
            <a:ext cx="5166360" cy="960120"/>
          </a:xfrm>
          <a:prstGeom prst="rect">
            <a:avLst/>
          </a:prstGeom>
          <a:noFill/>
        </p:spPr>
        <p:txBody>
          <a:bodyPr wrap="square" lIns="18288" rIns="18288" tIns="9144" bIns="9144">
            <a:spAutoFit/>
          </a:bodyPr>
          <a:lstStyle/>
          <a:p>
            <a:pPr>
              <a:spcBef>
                <a:spcPts val="0"/>
              </a:spcBef>
              <a:spcAft>
                <a:spcPts val="0"/>
              </a:spcAft>
              <a:defRPr sz="1230">
                <a:solidFill>
                  <a:srgbClr val="191919"/>
                </a:solidFill>
                <a:latin typeface="Arial"/>
              </a:defRPr>
            </a:pPr>
            <a:r>
              <a:rPr sz="1500" b="0">
                <a:solidFill>
                  <a:srgbClr val="1E1E1E"/>
                </a:solidFill>
                <a:latin typeface="Arial"/>
              </a:rPr>
              <a:t>• Streamlit-based advisory interface.</a:t>
            </a:r>
          </a:p>
          <a:p>
            <a:pPr>
              <a:spcBef>
                <a:spcPts val="0"/>
              </a:spcBef>
              <a:spcAft>
                <a:spcPts val="0"/>
              </a:spcAft>
              <a:defRPr sz="1230">
                <a:solidFill>
                  <a:srgbClr val="191919"/>
                </a:solidFill>
                <a:latin typeface="Arial"/>
              </a:defRPr>
            </a:pPr>
            <a:r>
              <a:rPr sz="1500" b="0">
                <a:solidFill>
                  <a:srgbClr val="1E1E1E"/>
                </a:solidFill>
                <a:latin typeface="Arial"/>
              </a:rPr>
              <a:t>• District + crop + month + scenario inputs.</a:t>
            </a:r>
          </a:p>
          <a:p>
            <a:pPr>
              <a:spcBef>
                <a:spcPts val="0"/>
              </a:spcBef>
              <a:spcAft>
                <a:spcPts val="0"/>
              </a:spcAft>
              <a:defRPr sz="1230">
                <a:solidFill>
                  <a:srgbClr val="191919"/>
                </a:solidFill>
                <a:latin typeface="Arial"/>
              </a:defRPr>
            </a:pPr>
            <a:r>
              <a:rPr sz="1500" b="0">
                <a:solidFill>
                  <a:srgbClr val="1E1E1E"/>
                </a:solidFill>
                <a:latin typeface="Arial"/>
              </a:rPr>
              <a:t>• Grounded response with Recommendation → Reason → Source.</a:t>
            </a:r>
          </a:p>
        </p:txBody>
      </p:sp>
      <p:sp>
        <p:nvSpPr>
          <p:cNvPr id="7" name="TextBox 6"/>
          <p:cNvSpPr txBox="1"/>
          <p:nvPr/>
        </p:nvSpPr>
        <p:spPr>
          <a:xfrm>
            <a:off x="502920" y="3730752"/>
            <a:ext cx="2743200" cy="292608"/>
          </a:xfrm>
          <a:prstGeom prst="rect">
            <a:avLst/>
          </a:prstGeom>
          <a:noFill/>
        </p:spPr>
        <p:txBody>
          <a:bodyPr wrap="square" lIns="18288" rIns="18288" tIns="9144" bIns="9144" anchor="t">
            <a:spAutoFit/>
          </a:bodyPr>
          <a:lstStyle/>
          <a:p>
            <a:pPr algn="l">
              <a:spcBef>
                <a:spcPts val="0"/>
              </a:spcBef>
              <a:spcAft>
                <a:spcPts val="0"/>
              </a:spcAft>
            </a:pPr>
            <a:r>
              <a:rPr sz="1600" b="1" i="0">
                <a:solidFill>
                  <a:srgbClr val="1E1E1E"/>
                </a:solidFill>
                <a:latin typeface="Arial"/>
              </a:rPr>
              <a:t>Research Contribution</a:t>
            </a:r>
          </a:p>
        </p:txBody>
      </p:sp>
      <p:sp>
        <p:nvSpPr>
          <p:cNvPr id="8" name="TextBox 7"/>
          <p:cNvSpPr txBox="1"/>
          <p:nvPr/>
        </p:nvSpPr>
        <p:spPr>
          <a:xfrm>
            <a:off x="594360" y="4050791"/>
            <a:ext cx="5166360" cy="1051560"/>
          </a:xfrm>
          <a:prstGeom prst="rect">
            <a:avLst/>
          </a:prstGeom>
          <a:noFill/>
        </p:spPr>
        <p:txBody>
          <a:bodyPr wrap="square" lIns="18288" rIns="18288" tIns="9144" bIns="9144">
            <a:spAutoFit/>
          </a:bodyPr>
          <a:lstStyle/>
          <a:p>
            <a:pPr>
              <a:spcBef>
                <a:spcPts val="0"/>
              </a:spcBef>
              <a:spcAft>
                <a:spcPts val="0"/>
              </a:spcAft>
              <a:defRPr sz="1230">
                <a:solidFill>
                  <a:srgbClr val="191919"/>
                </a:solidFill>
                <a:latin typeface="Arial"/>
              </a:defRPr>
            </a:pPr>
            <a:r>
              <a:rPr sz="1500" b="0">
                <a:solidFill>
                  <a:srgbClr val="1E1E1E"/>
                </a:solidFill>
                <a:latin typeface="Arial"/>
              </a:rPr>
              <a:t>• Explicitly links El Niño scenario intensity to retrieval priority.</a:t>
            </a:r>
          </a:p>
          <a:p>
            <a:pPr>
              <a:spcBef>
                <a:spcPts val="0"/>
              </a:spcBef>
              <a:spcAft>
                <a:spcPts val="0"/>
              </a:spcAft>
              <a:defRPr sz="1230">
                <a:solidFill>
                  <a:srgbClr val="191919"/>
                </a:solidFill>
                <a:latin typeface="Arial"/>
              </a:defRPr>
            </a:pPr>
            <a:r>
              <a:rPr sz="1500" b="0">
                <a:solidFill>
                  <a:srgbClr val="1E1E1E"/>
                </a:solidFill>
                <a:latin typeface="Arial"/>
              </a:rPr>
              <a:t>• Unifies government contingency plans, agromet advisories and climate literature.</a:t>
            </a:r>
          </a:p>
          <a:p>
            <a:pPr>
              <a:spcBef>
                <a:spcPts val="0"/>
              </a:spcBef>
              <a:spcAft>
                <a:spcPts val="0"/>
              </a:spcAft>
              <a:defRPr sz="1230">
                <a:solidFill>
                  <a:srgbClr val="191919"/>
                </a:solidFill>
                <a:latin typeface="Arial"/>
              </a:defRPr>
            </a:pPr>
            <a:r>
              <a:rPr sz="1500" b="0">
                <a:solidFill>
                  <a:srgbClr val="1E1E1E"/>
                </a:solidFill>
                <a:latin typeface="Arial"/>
              </a:rPr>
              <a:t>• Creates a reproducible, explainable advisory pipeline.</a:t>
            </a:r>
          </a:p>
        </p:txBody>
      </p:sp>
      <p:sp>
        <p:nvSpPr>
          <p:cNvPr id="9" name="Rounded Rectangle 8"/>
          <p:cNvSpPr/>
          <p:nvPr/>
        </p:nvSpPr>
        <p:spPr>
          <a:xfrm>
            <a:off x="6400800" y="1920240"/>
            <a:ext cx="1508760" cy="566928"/>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65960"/>
            <a:ext cx="1417319" cy="47548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QUESTION</a:t>
            </a:r>
          </a:p>
        </p:txBody>
      </p:sp>
      <p:sp>
        <p:nvSpPr>
          <p:cNvPr id="11" name="Rounded Rectangle 10"/>
          <p:cNvSpPr/>
          <p:nvPr/>
        </p:nvSpPr>
        <p:spPr>
          <a:xfrm>
            <a:off x="8321040" y="1920240"/>
            <a:ext cx="1508760" cy="566928"/>
          </a:xfrm>
          <a:prstGeom prst="roundRect">
            <a:avLst/>
          </a:prstGeom>
          <a:solidFill>
            <a:srgbClr val="EBEEF9"/>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965960"/>
            <a:ext cx="1417319" cy="47548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RETRIEVE</a:t>
            </a:r>
          </a:p>
        </p:txBody>
      </p:sp>
      <p:sp>
        <p:nvSpPr>
          <p:cNvPr id="13" name="Rounded Rectangle 12"/>
          <p:cNvSpPr/>
          <p:nvPr/>
        </p:nvSpPr>
        <p:spPr>
          <a:xfrm>
            <a:off x="10241280" y="1920240"/>
            <a:ext cx="1417320" cy="566928"/>
          </a:xfrm>
          <a:prstGeom prst="roundRect">
            <a:avLst/>
          </a:prstGeom>
          <a:solidFill>
            <a:srgbClr val="FFFFFF"/>
          </a:solidFill>
          <a:ln w="12700">
            <a:solidFill>
              <a:srgbClr val="C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1965960"/>
            <a:ext cx="1325880" cy="47548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ADVISE</a:t>
            </a:r>
          </a:p>
        </p:txBody>
      </p:sp>
      <p:cxnSp>
        <p:nvCxnSpPr>
          <p:cNvPr id="15" name="Connector 14"/>
          <p:cNvCxnSpPr/>
          <p:nvPr/>
        </p:nvCxnSpPr>
        <p:spPr>
          <a:xfrm>
            <a:off x="7909560" y="2203704"/>
            <a:ext cx="41148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829800" y="2203704"/>
            <a:ext cx="411480" cy="0"/>
          </a:xfrm>
          <a:prstGeom prst="line">
            <a:avLst/>
          </a:prstGeom>
          <a:ln w="25400">
            <a:solidFill>
              <a:srgbClr val="C6000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78040" y="3337560"/>
            <a:ext cx="1508760" cy="566928"/>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3383279"/>
            <a:ext cx="1417319" cy="47548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SOURCE</a:t>
            </a:r>
          </a:p>
        </p:txBody>
      </p:sp>
      <p:sp>
        <p:nvSpPr>
          <p:cNvPr id="19" name="Rounded Rectangle 18"/>
          <p:cNvSpPr/>
          <p:nvPr/>
        </p:nvSpPr>
        <p:spPr>
          <a:xfrm>
            <a:off x="9098280" y="3337560"/>
            <a:ext cx="1508760" cy="566928"/>
          </a:xfrm>
          <a:prstGeom prst="roundRect">
            <a:avLst/>
          </a:prstGeom>
          <a:solidFill>
            <a:srgbClr val="FFFFFF"/>
          </a:solidFill>
          <a:ln w="12700">
            <a:solidFill>
              <a:srgbClr val="1F3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3383279"/>
            <a:ext cx="1417319" cy="475488"/>
          </a:xfrm>
          <a:prstGeom prst="rect">
            <a:avLst/>
          </a:prstGeom>
          <a:noFill/>
        </p:spPr>
        <p:txBody>
          <a:bodyPr wrap="square" lIns="18288" rIns="18288" tIns="9144" bIns="9144" anchor="ctr">
            <a:spAutoFit/>
          </a:bodyPr>
          <a:lstStyle/>
          <a:p>
            <a:pPr algn="ctr">
              <a:spcBef>
                <a:spcPts val="0"/>
              </a:spcBef>
              <a:spcAft>
                <a:spcPts val="0"/>
              </a:spcAft>
            </a:pPr>
            <a:r>
              <a:rPr sz="1750" b="1" i="0">
                <a:solidFill>
                  <a:srgbClr val="191919"/>
                </a:solidFill>
                <a:latin typeface="Arial"/>
              </a:rPr>
              <a:t>REASON</a:t>
            </a:r>
          </a:p>
        </p:txBody>
      </p:sp>
      <p:cxnSp>
        <p:nvCxnSpPr>
          <p:cNvPr id="21" name="Connector 20"/>
          <p:cNvCxnSpPr/>
          <p:nvPr/>
        </p:nvCxnSpPr>
        <p:spPr>
          <a:xfrm>
            <a:off x="7909560" y="2487168"/>
            <a:ext cx="0" cy="850392"/>
          </a:xfrm>
          <a:prstGeom prst="line">
            <a:avLst/>
          </a:prstGeom>
          <a:ln w="15240">
            <a:solidFill>
              <a:srgbClr val="78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29800" y="2487168"/>
            <a:ext cx="0" cy="850392"/>
          </a:xfrm>
          <a:prstGeom prst="line">
            <a:avLst/>
          </a:prstGeom>
          <a:ln w="15240">
            <a:solidFill>
              <a:srgbClr val="78787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0" y="4343400"/>
            <a:ext cx="5074920" cy="685800"/>
          </a:xfrm>
          <a:prstGeom prst="rect">
            <a:avLst/>
          </a:prstGeom>
          <a:noFill/>
        </p:spPr>
        <p:txBody>
          <a:bodyPr wrap="square" lIns="18288" rIns="18288" tIns="9144" bIns="9144" anchor="t">
            <a:spAutoFit/>
          </a:bodyPr>
          <a:lstStyle/>
          <a:p>
            <a:pPr algn="ctr">
              <a:spcBef>
                <a:spcPts val="0"/>
              </a:spcBef>
              <a:spcAft>
                <a:spcPts val="0"/>
              </a:spcAft>
            </a:pPr>
            <a:r>
              <a:rPr sz="1750" b="1" i="0">
                <a:solidFill>
                  <a:srgbClr val="191919"/>
                </a:solidFill>
                <a:latin typeface="Arial"/>
              </a:rPr>
              <a:t>Expected result: faster, more consistent and more defensible climate-aware agricultural guidance.</a:t>
            </a:r>
          </a:p>
        </p:txBody>
      </p:sp>
      <p:sp>
        <p:nvSpPr>
          <p:cNvPr id="25" name="Rectangle 24"/>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 name="Picture 8"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47472"/>
          </a:xfrm>
          <a:prstGeom prst="rect">
            <a:avLst/>
          </a:prstGeom>
          <a:noFill/>
        </p:spPr>
        <p:txBody>
          <a:bodyPr wrap="square" lIns="18288" rIns="18288" tIns="9144" bIns="9144" anchor="t">
            <a:spAutoFit/>
          </a:bodyPr>
          <a:lstStyle/>
          <a:p>
            <a:pPr algn="ctr">
              <a:spcBef>
                <a:spcPts val="0"/>
              </a:spcBef>
              <a:spcAft>
                <a:spcPts val="0"/>
              </a:spcAft>
            </a:pPr>
            <a:r>
              <a:rPr sz="2300" b="1" i="0">
                <a:solidFill>
                  <a:srgbClr val="234178"/>
                </a:solidFill>
                <a:latin typeface="Arial"/>
              </a:rPr>
              <a:t>APPLICATIONS &amp; FUTURE SCOPE</a:t>
            </a:r>
          </a:p>
        </p:txBody>
      </p:sp>
      <p:sp>
        <p:nvSpPr>
          <p:cNvPr id="5" name="TextBox 4"/>
          <p:cNvSpPr txBox="1"/>
          <p:nvPr/>
        </p:nvSpPr>
        <p:spPr>
          <a:xfrm>
            <a:off x="502920" y="1993392"/>
            <a:ext cx="2011680" cy="292608"/>
          </a:xfrm>
          <a:prstGeom prst="rect">
            <a:avLst/>
          </a:prstGeom>
          <a:noFill/>
        </p:spPr>
        <p:txBody>
          <a:bodyPr wrap="square" lIns="18288" rIns="18288" tIns="9144" bIns="9144" anchor="t">
            <a:spAutoFit/>
          </a:bodyPr>
          <a:lstStyle/>
          <a:p>
            <a:pPr algn="l">
              <a:spcBef>
                <a:spcPts val="0"/>
              </a:spcBef>
              <a:spcAft>
                <a:spcPts val="0"/>
              </a:spcAft>
            </a:pPr>
            <a:r>
              <a:rPr sz="1800" b="1" i="0">
                <a:solidFill>
                  <a:srgbClr val="1E1E1E"/>
                </a:solidFill>
                <a:latin typeface="Arial"/>
              </a:rPr>
              <a:t>Applications</a:t>
            </a:r>
          </a:p>
        </p:txBody>
      </p:sp>
      <p:sp>
        <p:nvSpPr>
          <p:cNvPr id="6" name="TextBox 5"/>
          <p:cNvSpPr txBox="1"/>
          <p:nvPr/>
        </p:nvSpPr>
        <p:spPr>
          <a:xfrm>
            <a:off x="594360" y="2350008"/>
            <a:ext cx="4937760" cy="1901952"/>
          </a:xfrm>
          <a:prstGeom prst="rect">
            <a:avLst/>
          </a:prstGeom>
          <a:noFill/>
        </p:spPr>
        <p:txBody>
          <a:bodyPr wrap="square" lIns="18288" rIns="18288" tIns="9144" bIns="9144">
            <a:spAutoFit/>
          </a:bodyPr>
          <a:lstStyle/>
          <a:p>
            <a:pPr>
              <a:lnSpc>
                <a:spcPct val="105000"/>
              </a:lnSpc>
              <a:spcBef>
                <a:spcPts val="0"/>
              </a:spcBef>
              <a:spcAft>
                <a:spcPts val="600"/>
              </a:spcAft>
              <a:defRPr sz="1250">
                <a:solidFill>
                  <a:srgbClr val="191919"/>
                </a:solidFill>
                <a:latin typeface="Arial"/>
              </a:defRPr>
            </a:pPr>
            <a:r>
              <a:rPr sz="1650" b="0">
                <a:solidFill>
                  <a:srgbClr val="1E1E1E"/>
                </a:solidFill>
                <a:latin typeface="Arial"/>
              </a:rPr>
              <a:t>• KVK officers and agricultural extension workers</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District-level crop planning during El Niño years</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Pre-sowing advisories and contingency-plan retrieval</a:t>
            </a:r>
          </a:p>
          <a:p>
            <a:pPr>
              <a:lnSpc>
                <a:spcPct val="105000"/>
              </a:lnSpc>
              <a:spcBef>
                <a:spcPts val="0"/>
              </a:spcBef>
              <a:spcAft>
                <a:spcPts val="600"/>
              </a:spcAft>
              <a:defRPr sz="1250">
                <a:solidFill>
                  <a:srgbClr val="191919"/>
                </a:solidFill>
                <a:latin typeface="Arial"/>
              </a:defRPr>
            </a:pPr>
            <a:r>
              <a:rPr sz="1650" b="0">
                <a:solidFill>
                  <a:srgbClr val="1E1E1E"/>
                </a:solidFill>
                <a:latin typeface="Arial"/>
              </a:rPr>
              <a:t>• Decision support for localized climate-risk communication</a:t>
            </a:r>
          </a:p>
        </p:txBody>
      </p:sp>
      <p:sp>
        <p:nvSpPr>
          <p:cNvPr id="7" name="TextBox 6"/>
          <p:cNvSpPr txBox="1"/>
          <p:nvPr/>
        </p:nvSpPr>
        <p:spPr>
          <a:xfrm>
            <a:off x="6172200" y="1993392"/>
            <a:ext cx="2286000" cy="292608"/>
          </a:xfrm>
          <a:prstGeom prst="rect">
            <a:avLst/>
          </a:prstGeom>
          <a:noFill/>
        </p:spPr>
        <p:txBody>
          <a:bodyPr wrap="square" lIns="18288" rIns="18288" tIns="9144" bIns="9144" anchor="t">
            <a:spAutoFit/>
          </a:bodyPr>
          <a:lstStyle/>
          <a:p>
            <a:pPr algn="l">
              <a:spcBef>
                <a:spcPts val="0"/>
              </a:spcBef>
              <a:spcAft>
                <a:spcPts val="0"/>
              </a:spcAft>
            </a:pPr>
            <a:r>
              <a:rPr sz="1800" b="1" i="0">
                <a:solidFill>
                  <a:srgbClr val="1E1E1E"/>
                </a:solidFill>
                <a:latin typeface="Arial"/>
              </a:rPr>
              <a:t>Future Scope</a:t>
            </a:r>
          </a:p>
        </p:txBody>
      </p:sp>
      <p:sp>
        <p:nvSpPr>
          <p:cNvPr id="8" name="TextBox 7"/>
          <p:cNvSpPr txBox="1"/>
          <p:nvPr/>
        </p:nvSpPr>
        <p:spPr>
          <a:xfrm>
            <a:off x="6263640" y="2350008"/>
            <a:ext cx="4937760" cy="1993392"/>
          </a:xfrm>
          <a:prstGeom prst="rect">
            <a:avLst/>
          </a:prstGeom>
          <a:noFill/>
        </p:spPr>
        <p:txBody>
          <a:bodyPr wrap="square" lIns="18288" rIns="18288" tIns="9144" bIns="9144">
            <a:spAutoFit/>
          </a:bodyPr>
          <a:lstStyle/>
          <a:p>
            <a:pPr>
              <a:lnSpc>
                <a:spcPct val="105000"/>
              </a:lnSpc>
              <a:spcBef>
                <a:spcPts val="0"/>
              </a:spcBef>
              <a:spcAft>
                <a:spcPts val="600"/>
              </a:spcAft>
              <a:defRPr sz="1220">
                <a:solidFill>
                  <a:srgbClr val="191919"/>
                </a:solidFill>
                <a:latin typeface="Arial"/>
              </a:defRPr>
            </a:pPr>
            <a:r>
              <a:rPr sz="1650" b="0">
                <a:solidFill>
                  <a:srgbClr val="1E1E1E"/>
                </a:solidFill>
                <a:latin typeface="Arial"/>
              </a:rPr>
              <a:t>• Live IMD / weather feeds for dynamic context</a:t>
            </a:r>
          </a:p>
          <a:p>
            <a:pPr>
              <a:lnSpc>
                <a:spcPct val="105000"/>
              </a:lnSpc>
              <a:spcBef>
                <a:spcPts val="0"/>
              </a:spcBef>
              <a:spcAft>
                <a:spcPts val="600"/>
              </a:spcAft>
              <a:defRPr sz="1220">
                <a:solidFill>
                  <a:srgbClr val="191919"/>
                </a:solidFill>
                <a:latin typeface="Arial"/>
              </a:defRPr>
            </a:pPr>
            <a:r>
              <a:rPr sz="1650" b="0">
                <a:solidFill>
                  <a:srgbClr val="1E1E1E"/>
                </a:solidFill>
                <a:latin typeface="Arial"/>
              </a:rPr>
              <a:t>• More districts, crops and regional languages</a:t>
            </a:r>
          </a:p>
          <a:p>
            <a:pPr>
              <a:lnSpc>
                <a:spcPct val="105000"/>
              </a:lnSpc>
              <a:spcBef>
                <a:spcPts val="0"/>
              </a:spcBef>
              <a:spcAft>
                <a:spcPts val="600"/>
              </a:spcAft>
              <a:defRPr sz="1220">
                <a:solidFill>
                  <a:srgbClr val="191919"/>
                </a:solidFill>
                <a:latin typeface="Arial"/>
              </a:defRPr>
            </a:pPr>
            <a:r>
              <a:rPr sz="1650" b="0">
                <a:solidFill>
                  <a:srgbClr val="1E1E1E"/>
                </a:solidFill>
                <a:latin typeface="Arial"/>
              </a:rPr>
              <a:t>• Hybrid retrieval + reranking for stronger evidence selection</a:t>
            </a:r>
          </a:p>
          <a:p>
            <a:pPr>
              <a:lnSpc>
                <a:spcPct val="105000"/>
              </a:lnSpc>
              <a:spcBef>
                <a:spcPts val="0"/>
              </a:spcBef>
              <a:spcAft>
                <a:spcPts val="600"/>
              </a:spcAft>
              <a:defRPr sz="1220">
                <a:solidFill>
                  <a:srgbClr val="191919"/>
                </a:solidFill>
                <a:latin typeface="Arial"/>
              </a:defRPr>
            </a:pPr>
            <a:r>
              <a:rPr sz="1650" b="0">
                <a:solidFill>
                  <a:srgbClr val="1E1E1E"/>
                </a:solidFill>
                <a:latin typeface="Arial"/>
              </a:rPr>
              <a:t>• Automated evaluation using citation correctness and groundedness</a:t>
            </a:r>
          </a:p>
          <a:p>
            <a:pPr>
              <a:lnSpc>
                <a:spcPct val="105000"/>
              </a:lnSpc>
              <a:spcBef>
                <a:spcPts val="0"/>
              </a:spcBef>
              <a:spcAft>
                <a:spcPts val="600"/>
              </a:spcAft>
              <a:defRPr sz="1220">
                <a:solidFill>
                  <a:srgbClr val="191919"/>
                </a:solidFill>
                <a:latin typeface="Arial"/>
              </a:defRPr>
            </a:pPr>
            <a:r>
              <a:rPr sz="1650" b="0">
                <a:solidFill>
                  <a:srgbClr val="1E1E1E"/>
                </a:solidFill>
                <a:latin typeface="Arial"/>
              </a:rPr>
              <a:t>• Deployment for mobile / low-bandwidth extension workflows</a:t>
            </a:r>
          </a:p>
        </p:txBody>
      </p:sp>
      <p:sp>
        <p:nvSpPr>
          <p:cNvPr id="10" name="Rectangle 9"/>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3" name="TextBox 2"/>
          <p:cNvSpPr txBox="1"/>
          <p:nvPr/>
        </p:nvSpPr>
        <p:spPr>
          <a:xfrm>
            <a:off x="384048" y="1627632"/>
            <a:ext cx="11292840" cy="292608"/>
          </a:xfrm>
          <a:prstGeom prst="rect">
            <a:avLst/>
          </a:prstGeom>
          <a:noFill/>
        </p:spPr>
        <p:txBody>
          <a:bodyPr wrap="square" lIns="13716" rIns="13716" tIns="4572" bIns="4572" anchor="ctr">
            <a:spAutoFit/>
          </a:bodyPr>
          <a:lstStyle/>
          <a:p>
            <a:pPr algn="ctr"/>
            <a:r>
              <a:rPr sz="1800" b="1">
                <a:solidFill>
                  <a:srgbClr val="1E1E1E"/>
                </a:solidFill>
                <a:latin typeface="Times New Roman"/>
              </a:rPr>
              <a:t>TIMELINE</a:t>
            </a:r>
          </a:p>
        </p:txBody>
      </p:sp>
      <p:graphicFrame>
        <p:nvGraphicFramePr>
          <p:cNvPr id="4" name="Table 3"/>
          <p:cNvGraphicFramePr>
            <a:graphicFrameLocks noGrp="1"/>
          </p:cNvGraphicFramePr>
          <p:nvPr/>
        </p:nvGraphicFramePr>
        <p:xfrm>
          <a:off x="420624" y="1975104"/>
          <a:ext cx="11228832" cy="4315968"/>
        </p:xfrm>
        <a:graphic>
          <a:graphicData uri="http://schemas.openxmlformats.org/drawingml/2006/table">
            <a:tbl>
              <a:tblPr firstRow="1" bandRow="1">
                <a:tableStyleId>{5C22544A-7EE6-4342-B048-85BDC9FD1C3A}</a:tableStyleId>
              </a:tblPr>
              <a:tblGrid>
                <a:gridCol w="1901952"/>
                <a:gridCol w="658368"/>
                <a:gridCol w="658368"/>
                <a:gridCol w="658368"/>
                <a:gridCol w="658368"/>
                <a:gridCol w="658368"/>
                <a:gridCol w="658368"/>
                <a:gridCol w="658368"/>
                <a:gridCol w="658368"/>
                <a:gridCol w="658368"/>
                <a:gridCol w="658368"/>
                <a:gridCol w="658368"/>
                <a:gridCol w="658368"/>
                <a:gridCol w="658368"/>
                <a:gridCol w="658368"/>
              </a:tblGrid>
              <a:tr h="331997">
                <a:tc>
                  <a:txBody>
                    <a:bodyPr/>
                    <a:lstStyle/>
                    <a:p>
                      <a:pPr algn="ctr">
                        <a:lnSpc>
                          <a:spcPct val="95000"/>
                        </a:lnSpc>
                        <a:spcBef>
                          <a:spcPts val="0"/>
                        </a:spcBef>
                        <a:spcAft>
                          <a:spcPts val="0"/>
                        </a:spcAft>
                      </a:pPr>
                      <a:r>
                        <a:rPr sz="1120" b="1">
                          <a:solidFill>
                            <a:srgbClr val="1E1E1E"/>
                          </a:solidFill>
                          <a:latin typeface="Times New Roman"/>
                        </a:rPr>
                        <a:t>Activity</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W2</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W3</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W4</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W5</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W6</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W7</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W8</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W9</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W10</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W11</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W12</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W13</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r>
                        <a:rPr sz="1120" b="1">
                          <a:solidFill>
                            <a:srgbClr val="1E1E1E"/>
                          </a:solidFill>
                          <a:latin typeface="Times New Roman"/>
                        </a:rPr>
                        <a:t>W14</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Literature Survey</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Synopsis Approval</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Requirement Gathering</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Dataset Collection</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System Design</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1">
                          <a:solidFill>
                            <a:srgbClr val="1E1E1E"/>
                          </a:solidFill>
                          <a:latin typeface="Times New Roman"/>
                        </a:rPr>
                        <a:t>Core Implementation &amp; Coding</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Mid-Term Review</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Testing &amp; Debugging</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Result Analysis</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Final Report Writing</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Poster Preparation</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r h="331997">
                <a:tc>
                  <a:txBody>
                    <a:bodyPr/>
                    <a:lstStyle/>
                    <a:p>
                      <a:pPr algn="l">
                        <a:lnSpc>
                          <a:spcPct val="95000"/>
                        </a:lnSpc>
                        <a:spcBef>
                          <a:spcPts val="0"/>
                        </a:spcBef>
                        <a:spcAft>
                          <a:spcPts val="0"/>
                        </a:spcAft>
                      </a:pPr>
                      <a:r>
                        <a:rPr sz="1040" b="0">
                          <a:solidFill>
                            <a:srgbClr val="1E1E1E"/>
                          </a:solidFill>
                          <a:latin typeface="Times New Roman"/>
                        </a:rPr>
                        <a:t>Final Viva</a:t>
                      </a: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c>
                  <a:txBody>
                    <a:bodyPr/>
                    <a:lstStyle/>
                    <a:p>
                      <a:pPr algn="ctr">
                        <a:lnSpc>
                          <a:spcPct val="95000"/>
                        </a:lnSpc>
                        <a:spcBef>
                          <a:spcPts val="0"/>
                        </a:spcBef>
                        <a:spcAft>
                          <a:spcPts val="0"/>
                        </a:spcAft>
                      </a:pPr>
                    </a:p>
                  </a:txBody>
                  <a:tcPr anchor="ctr" marL="18288" marR="18288" marT="0" marB="0">
                    <a:lnL w="700">
                      <a:solidFill>
                        <a:srgbClr val="777777"/>
                      </a:solidFill>
                      <a:prstDash val="solid"/>
                    </a:lnL>
                    <a:lnR w="700">
                      <a:solidFill>
                        <a:srgbClr val="777777"/>
                      </a:solidFill>
                      <a:prstDash val="solid"/>
                    </a:lnR>
                    <a:lnT w="700">
                      <a:solidFill>
                        <a:srgbClr val="777777"/>
                      </a:solidFill>
                      <a:prstDash val="solid"/>
                    </a:lnT>
                    <a:lnB w="700">
                      <a:solidFill>
                        <a:srgbClr val="777777"/>
                      </a:solidFill>
                      <a:prstDash val="solid"/>
                    </a:lnB>
                    <a:solidFill>
                      <a:srgbClr val="FFFFFF"/>
                    </a:solidFill>
                  </a:tcPr>
                </a:tc>
              </a:tr>
            </a:tbl>
          </a:graphicData>
        </a:graphic>
      </p:graphicFrame>
      <p:sp>
        <p:nvSpPr>
          <p:cNvPr id="9" name="Rounded Rectangle 8"/>
          <p:cNvSpPr/>
          <p:nvPr/>
        </p:nvSpPr>
        <p:spPr>
          <a:xfrm>
            <a:off x="4178469" y="2816914"/>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09613" y="2816914"/>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40757" y="2816914"/>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78469" y="3188301"/>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09613" y="3188301"/>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40757" y="3188301"/>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78469" y="3559688"/>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9613" y="3559688"/>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40757" y="3559688"/>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71901" y="3931075"/>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703045" y="3931075"/>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34190" y="3931075"/>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65333" y="3931075"/>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34190" y="4302463"/>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596477" y="4673850"/>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27621" y="4673850"/>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858765" y="4673850"/>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596477" y="5045237"/>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27621" y="5045237"/>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58765" y="5045237"/>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489909" y="5416624"/>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1121053" y="5416624"/>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489909" y="5788011"/>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121053" y="5788011"/>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1121053" y="6159398"/>
            <a:ext cx="402336" cy="103988"/>
          </a:xfrm>
          <a:prstGeom prst="roundRect">
            <a:avLst/>
          </a:prstGeom>
          <a:solidFill>
            <a:srgbClr val="CD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
        <p:nvSpPr>
          <p:cNvPr id="36" name="Rectangle 35"/>
          <p:cNvSpPr/>
          <p:nvPr/>
        </p:nvSpPr>
        <p:spPr>
          <a:xfrm>
            <a:off x="2450592" y="2422807"/>
            <a:ext cx="402336" cy="100584"/>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08960" y="2422807"/>
            <a:ext cx="402336" cy="100584"/>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 name="Picture 10"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10896"/>
          </a:xfrm>
          <a:prstGeom prst="rect">
            <a:avLst/>
          </a:prstGeom>
          <a:noFill/>
        </p:spPr>
        <p:txBody>
          <a:bodyPr wrap="square" lIns="18288" rIns="18288" tIns="9144" bIns="9144" anchor="t">
            <a:spAutoFit/>
          </a:bodyPr>
          <a:lstStyle/>
          <a:p>
            <a:pPr algn="ctr">
              <a:lnSpc>
                <a:spcPct val="100000"/>
              </a:lnSpc>
              <a:spcBef>
                <a:spcPts val="0"/>
              </a:spcBef>
              <a:spcAft>
                <a:spcPts val="0"/>
              </a:spcAft>
            </a:pPr>
            <a:r>
              <a:rPr sz="1850" b="1" i="0">
                <a:solidFill>
                  <a:srgbClr val="234178"/>
                </a:solidFill>
                <a:latin typeface="Arial"/>
              </a:rPr>
              <a:t>REFERENCES — 1 OF 2</a:t>
            </a:r>
          </a:p>
        </p:txBody>
      </p:sp>
      <p:sp>
        <p:nvSpPr>
          <p:cNvPr id="5" name="TextBox 4"/>
          <p:cNvSpPr txBox="1"/>
          <p:nvPr/>
        </p:nvSpPr>
        <p:spPr>
          <a:xfrm>
            <a:off x="530352" y="2011680"/>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[1] A. K. Soni, J. N. Tripathi, and M. Sateesh, "Impact of soil moisture and rainfall variability on soybean crop yield during El Niño episodes in Maharashtra, India," Theor. Appl. Climatol., vol. 156, art. 576, 2025. doi: 10.1007/s00704-025-05829-w</a:t>
            </a:r>
          </a:p>
        </p:txBody>
      </p:sp>
      <p:sp>
        <p:nvSpPr>
          <p:cNvPr id="6" name="TextBox 5"/>
          <p:cNvSpPr txBox="1"/>
          <p:nvPr/>
        </p:nvSpPr>
        <p:spPr>
          <a:xfrm>
            <a:off x="530352" y="2560320"/>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[2] K. S. Athira, M. K. Roxy, P. Dasgupta, J. S. Saranya, V. K. Singh, and R. Attada, "Regional and temporal variability of Indian summer monsoon rainfall in relation to El Niño Southern Oscillation," Sci. Rep., vol. 13, art. 12643, 2023. doi: 10.1038/s41598-023-38730-5</a:t>
            </a:r>
          </a:p>
        </p:txBody>
      </p:sp>
      <p:sp>
        <p:nvSpPr>
          <p:cNvPr id="7" name="TextBox 6"/>
          <p:cNvSpPr txBox="1"/>
          <p:nvPr/>
        </p:nvSpPr>
        <p:spPr>
          <a:xfrm>
            <a:off x="530352" y="3182112"/>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[3] S. A. Hill et al., "More extreme Indian monsoon rainfall in El Niño summers," Science, vol. 389, pp. 1220–1224, 2025. doi: 10.1126/science.adg5577</a:t>
            </a:r>
          </a:p>
        </p:txBody>
      </p:sp>
      <p:sp>
        <p:nvSpPr>
          <p:cNvPr id="8" name="TextBox 7"/>
          <p:cNvSpPr txBox="1"/>
          <p:nvPr/>
        </p:nvSpPr>
        <p:spPr>
          <a:xfrm>
            <a:off x="530352" y="3803904"/>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[4] M. Gurazada et al., "El Niño and positive Indian Ocean Dipole conditions simultaneously reduce the production of multiple cereals across India," Environ. Res. Lett., vol. 19, no. 10, art. 104059, 2024.</a:t>
            </a:r>
          </a:p>
        </p:txBody>
      </p:sp>
      <p:sp>
        <p:nvSpPr>
          <p:cNvPr id="9" name="TextBox 8"/>
          <p:cNvSpPr txBox="1"/>
          <p:nvPr/>
        </p:nvSpPr>
        <p:spPr>
          <a:xfrm>
            <a:off x="530352" y="4425696"/>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[5] N. Subash et al., "Relevance of climatological information on spatial and temporal variability of Indian summer monsoon rainfall in recent El Niño years and its impact on four important kharif crops over India," Clim. Serv., vol. 30, art. 100370, 2023.</a:t>
            </a:r>
          </a:p>
        </p:txBody>
      </p:sp>
      <p:sp>
        <p:nvSpPr>
          <p:cNvPr id="10" name="TextBox 9"/>
          <p:cNvSpPr txBox="1"/>
          <p:nvPr/>
        </p:nvSpPr>
        <p:spPr>
          <a:xfrm>
            <a:off x="530352" y="5047488"/>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[6] S. Sawant, R. Nair, and S. Hariharan, "Empowering farmers with artificial intelligence: a retrieval-augmented generation based large language model advisory framework," J. Agric. Eng., vol. 57, 1908, 2026. doi: 10.4081/jae.2026.1908</a:t>
            </a:r>
          </a:p>
        </p:txBody>
      </p:sp>
      <p:sp>
        <p:nvSpPr>
          <p:cNvPr id="12" name="Rectangle 11"/>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 name="Picture 10"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411480" y="1609344"/>
            <a:ext cx="11109960" cy="310896"/>
          </a:xfrm>
          <a:prstGeom prst="rect">
            <a:avLst/>
          </a:prstGeom>
          <a:noFill/>
        </p:spPr>
        <p:txBody>
          <a:bodyPr wrap="square" lIns="18288" rIns="18288" tIns="9144" bIns="9144" anchor="t">
            <a:spAutoFit/>
          </a:bodyPr>
          <a:lstStyle/>
          <a:p>
            <a:pPr algn="ctr">
              <a:lnSpc>
                <a:spcPct val="100000"/>
              </a:lnSpc>
              <a:spcBef>
                <a:spcPts val="0"/>
              </a:spcBef>
              <a:spcAft>
                <a:spcPts val="0"/>
              </a:spcAft>
            </a:pPr>
            <a:r>
              <a:rPr sz="1850" b="1" i="0">
                <a:solidFill>
                  <a:srgbClr val="234178"/>
                </a:solidFill>
                <a:latin typeface="Arial"/>
              </a:rPr>
              <a:t>REFERENCES — 2 OF 2</a:t>
            </a:r>
          </a:p>
        </p:txBody>
      </p:sp>
      <p:sp>
        <p:nvSpPr>
          <p:cNvPr id="5" name="TextBox 4"/>
          <p:cNvSpPr txBox="1"/>
          <p:nvPr/>
        </p:nvSpPr>
        <p:spPr>
          <a:xfrm>
            <a:off x="530352" y="1938528"/>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[7] R. Bhatla et al., "El Niño/La Niña and IOD impact on Kharif season crops over Western agro-climatic zones of India," Theor. Appl. Climatol., vol. 151, no. 3–4, pp. 1355–1368, 2023.</a:t>
            </a:r>
          </a:p>
        </p:txBody>
      </p:sp>
      <p:sp>
        <p:nvSpPr>
          <p:cNvPr id="6" name="TextBox 5"/>
          <p:cNvSpPr txBox="1"/>
          <p:nvPr/>
        </p:nvSpPr>
        <p:spPr>
          <a:xfrm>
            <a:off x="530352" y="2560320"/>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[8] S. K. Bal et al., "Weather forecast, agriculture contingency plan and agromet-advisory services for climate resilient agriculture," Indian J. Agron., vol. 66, 5th IAC Special Issue, 2021.</a:t>
            </a:r>
          </a:p>
        </p:txBody>
      </p:sp>
      <p:sp>
        <p:nvSpPr>
          <p:cNvPr id="7" name="TextBox 6"/>
          <p:cNvSpPr txBox="1"/>
          <p:nvPr/>
        </p:nvSpPr>
        <p:spPr>
          <a:xfrm>
            <a:off x="530352" y="3182112"/>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[9] K. K. Kumar et al., "Unraveling the Mystery of Indian Monsoon Failure During El Niño," Science, vol. 314, no. 5796, pp. 115–119, 2006. doi: 10.1126/science.1131152</a:t>
            </a:r>
          </a:p>
        </p:txBody>
      </p:sp>
      <p:sp>
        <p:nvSpPr>
          <p:cNvPr id="8" name="TextBox 7"/>
          <p:cNvSpPr txBox="1"/>
          <p:nvPr/>
        </p:nvSpPr>
        <p:spPr>
          <a:xfrm>
            <a:off x="530352" y="3803904"/>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[10] D. S. Pai and S. Nair, "Impact of El-Niño-Southern Oscillation (ENSO) on extreme temperature events over India," MAUSAM, vol. 73, no. 3, pp. 597–606, 2022. doi: 10.54302/mausam.v73i3.5932</a:t>
            </a:r>
          </a:p>
        </p:txBody>
      </p:sp>
      <p:sp>
        <p:nvSpPr>
          <p:cNvPr id="9" name="TextBox 8"/>
          <p:cNvSpPr txBox="1"/>
          <p:nvPr/>
        </p:nvSpPr>
        <p:spPr>
          <a:xfrm>
            <a:off x="530352" y="4425696"/>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[11] NOAA Climate Prediction Center, "Oceanic Niño Index (ONI)," National Oceanic and Atmospheric Administration.</a:t>
            </a:r>
          </a:p>
        </p:txBody>
      </p:sp>
      <p:sp>
        <p:nvSpPr>
          <p:cNvPr id="10" name="TextBox 9"/>
          <p:cNvSpPr txBox="1"/>
          <p:nvPr/>
        </p:nvSpPr>
        <p:spPr>
          <a:xfrm>
            <a:off x="530352" y="5047488"/>
            <a:ext cx="10972800" cy="530352"/>
          </a:xfrm>
          <a:prstGeom prst="rect">
            <a:avLst/>
          </a:prstGeom>
          <a:noFill/>
        </p:spPr>
        <p:txBody>
          <a:bodyPr wrap="square" lIns="18288" rIns="18288" tIns="9144" bIns="9144" anchor="t">
            <a:spAutoFit/>
          </a:bodyPr>
          <a:lstStyle/>
          <a:p>
            <a:pPr algn="l">
              <a:lnSpc>
                <a:spcPct val="90000"/>
              </a:lnSpc>
              <a:spcBef>
                <a:spcPts val="0"/>
              </a:spcBef>
              <a:spcAft>
                <a:spcPts val="0"/>
              </a:spcAft>
            </a:pPr>
            <a:r>
              <a:rPr sz="1480" b="0" i="0">
                <a:solidFill>
                  <a:srgbClr val="1E1E1E"/>
                </a:solidFill>
                <a:latin typeface="Arial"/>
              </a:rPr>
              <a:t>[12] International Water Management Institute, "India to get its first AI-based chatbot to tackle drought," IWMI Blog, 2025.</a:t>
            </a:r>
          </a:p>
        </p:txBody>
      </p:sp>
      <p:sp>
        <p:nvSpPr>
          <p:cNvPr id="12" name="Rectangle 11"/>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exact_somaiya_last_page_template_v7.png"/>
          <p:cNvPicPr>
            <a:picLocks noChangeAspect="1"/>
          </p:cNvPicPr>
          <p:nvPr/>
        </p:nvPicPr>
        <p:blipFill>
          <a:blip r:embed="rId4"/>
          <a:stretch>
            <a:fillRect/>
          </a:stretch>
        </p:blipFill>
        <p:spPr>
          <a:xfrm>
            <a:off x="0" y="0"/>
            <a:ext cx="12191999" cy="6858000"/>
          </a:xfrm>
          <a:prstGeom prst="rect">
            <a:avLst/>
          </a:prstGeom>
        </p:spPr>
      </p:pic>
      <p:sp>
        <p:nvSpPr>
          <p:cNvPr id="4" name="TextBox 3"/>
          <p:cNvSpPr txBox="1"/>
          <p:nvPr/>
        </p:nvSpPr>
        <p:spPr>
          <a:xfrm>
            <a:off x="1645920" y="2103120"/>
            <a:ext cx="8915400" cy="1417320"/>
          </a:xfrm>
          <a:prstGeom prst="rect">
            <a:avLst/>
          </a:prstGeom>
          <a:noFill/>
        </p:spPr>
        <p:txBody>
          <a:bodyPr wrap="square" lIns="18288" rIns="18288" tIns="9144" bIns="9144" anchor="ctr">
            <a:spAutoFit/>
          </a:bodyPr>
          <a:lstStyle/>
          <a:p>
            <a:pPr algn="ctr">
              <a:spcBef>
                <a:spcPts val="0"/>
              </a:spcBef>
              <a:spcAft>
                <a:spcPts val="0"/>
              </a:spcAft>
            </a:pPr>
            <a:r>
              <a:rPr sz="6600" b="0" i="0">
                <a:solidFill>
                  <a:srgbClr val="262626"/>
                </a:solidFill>
                <a:latin typeface="Z003"/>
              </a:rPr>
              <a:t>Thank You</a:t>
            </a:r>
          </a:p>
        </p:txBody>
      </p:sp>
      <p:sp>
        <p:nvSpPr>
          <p:cNvPr id="5" name="Rectangle 4"/>
          <p:cNvSpPr/>
          <p:nvPr/>
        </p:nvSpPr>
        <p:spPr>
          <a:xfrm>
            <a:off x="3063240" y="3584448"/>
            <a:ext cx="1965960" cy="16459"/>
          </a:xfrm>
          <a:prstGeom prst="rect">
            <a:avLst/>
          </a:prstGeom>
          <a:solidFill>
            <a:srgbClr val="1F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59752" y="3584448"/>
            <a:ext cx="1965960" cy="16459"/>
          </a:xfrm>
          <a:prstGeom prst="rect">
            <a:avLst/>
          </a:prstGeom>
          <a:solidFill>
            <a:srgbClr val="1F3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3749039"/>
            <a:ext cx="6355080" cy="365760"/>
          </a:xfrm>
          <a:prstGeom prst="rect">
            <a:avLst/>
          </a:prstGeom>
          <a:noFill/>
        </p:spPr>
        <p:txBody>
          <a:bodyPr wrap="square" lIns="18288" rIns="18288" tIns="9144" bIns="9144" anchor="ctr">
            <a:spAutoFit/>
          </a:bodyPr>
          <a:lstStyle/>
          <a:p>
            <a:pPr algn="ctr">
              <a:spcBef>
                <a:spcPts val="0"/>
              </a:spcBef>
              <a:spcAft>
                <a:spcPts val="0"/>
              </a:spcAft>
            </a:pPr>
            <a:r>
              <a:rPr sz="1900" b="1" i="0">
                <a:solidFill>
                  <a:srgbClr val="1F3A6F"/>
                </a:solidFill>
                <a:latin typeface="Arial"/>
              </a:rPr>
              <a:t>Questions &amp; Discussion</a:t>
            </a:r>
          </a:p>
        </p:txBody>
      </p:sp>
      <p:sp>
        <p:nvSpPr>
          <p:cNvPr id="8" name="TextBox 7"/>
          <p:cNvSpPr txBox="1"/>
          <p:nvPr/>
        </p:nvSpPr>
        <p:spPr>
          <a:xfrm>
            <a:off x="3657600" y="4261104"/>
            <a:ext cx="4892040" cy="274320"/>
          </a:xfrm>
          <a:prstGeom prst="rect">
            <a:avLst/>
          </a:prstGeom>
          <a:noFill/>
        </p:spPr>
        <p:txBody>
          <a:bodyPr wrap="square" lIns="18288" rIns="18288" tIns="9144" bIns="9144" anchor="ctr">
            <a:spAutoFit/>
          </a:bodyPr>
          <a:lstStyle/>
          <a:p>
            <a:pPr algn="ctr">
              <a:spcBef>
                <a:spcPts val="0"/>
              </a:spcBef>
              <a:spcAft>
                <a:spcPts val="0"/>
              </a:spcAft>
            </a:pPr>
            <a:r>
              <a:rPr sz="1300" b="0" i="0">
                <a:solidFill>
                  <a:srgbClr val="6A6A6A"/>
                </a:solidFill>
                <a:latin typeface="Arial"/>
              </a:rPr>
              <a:t>AgriAdvisor  •  Group 9</a:t>
            </a:r>
          </a:p>
        </p:txBody>
      </p:sp>
      <p:sp>
        <p:nvSpPr>
          <p:cNvPr id="9" name="TextBox 8"/>
          <p:cNvSpPr txBox="1"/>
          <p:nvPr/>
        </p:nvSpPr>
        <p:spPr>
          <a:xfrm>
            <a:off x="3246120" y="4617720"/>
            <a:ext cx="5715000" cy="256032"/>
          </a:xfrm>
          <a:prstGeom prst="rect">
            <a:avLst/>
          </a:prstGeom>
          <a:noFill/>
        </p:spPr>
        <p:txBody>
          <a:bodyPr wrap="square" lIns="18288" rIns="18288" tIns="9144" bIns="9144" anchor="ctr">
            <a:spAutoFit/>
          </a:bodyPr>
          <a:lstStyle/>
          <a:p>
            <a:pPr algn="ctr">
              <a:spcBef>
                <a:spcPts val="0"/>
              </a:spcBef>
              <a:spcAft>
                <a:spcPts val="0"/>
              </a:spcAft>
            </a:pPr>
            <a:r>
              <a:rPr sz="1200" b="0" i="1">
                <a:solidFill>
                  <a:srgbClr val="777777"/>
                </a:solidFill>
                <a:latin typeface="Arial"/>
              </a:rPr>
              <a:t>El Niño-aware  •  Grounded  •  Explainable</a:t>
            </a:r>
          </a:p>
        </p:txBody>
      </p:sp>
      <p:sp>
        <p:nvSpPr>
          <p:cNvPr id="11" name="Rectangle 10"/>
          <p:cNvSpPr/>
          <p:nvPr/>
        </p:nvSpPr>
        <p:spPr>
          <a:xfrm>
            <a:off x="0" y="6446520"/>
            <a:ext cx="251460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 y="6510528"/>
            <a:ext cx="1554480" cy="201168"/>
          </a:xfrm>
          <a:prstGeom prst="rect">
            <a:avLst/>
          </a:prstGeom>
          <a:noFill/>
        </p:spPr>
        <p:txBody>
          <a:bodyPr wrap="none" anchor="ctr">
            <a:spAutoFit/>
          </a:bodyPr>
          <a:lstStyle/>
          <a:p>
            <a:pPr algn="l"/>
            <a:r>
              <a:rPr sz="1050">
                <a:solidFill>
                  <a:srgbClr val="FFFFFF"/>
                </a:solidFill>
                <a:latin typeface="Arial"/>
              </a:rPr>
              <a:t>05/08/2026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